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Arimo Bold" panose="020B0604020202020204" charset="0"/>
      <p:regular r:id="rId23"/>
    </p:embeddedFont>
    <p:embeddedFont>
      <p:font typeface="Canva Sans" panose="020B0604020202020204" charset="0"/>
      <p:regular r:id="rId24"/>
    </p:embeddedFont>
    <p:embeddedFont>
      <p:font typeface="Canva Sans Bold" panose="020B0604020202020204" charset="0"/>
      <p:regular r:id="rId25"/>
    </p:embeddedFont>
    <p:embeddedFont>
      <p:font typeface="IBM Plex Sans" panose="020B0503050203000203" pitchFamily="34" charset="0"/>
      <p:regular r:id="rId26"/>
    </p:embeddedFont>
    <p:embeddedFont>
      <p:font typeface="IBM Plex Sans 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8" d="100"/>
          <a:sy n="58" d="100"/>
        </p:scale>
        <p:origin x="514"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5.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BD59"/>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97120" y="3862358"/>
          <a:ext cx="5900900" cy="679196"/>
        </p:xfrm>
        <a:graphic>
          <a:graphicData uri="http://schemas.openxmlformats.org/drawingml/2006/table">
            <a:tbl>
              <a:tblPr/>
              <a:tblGrid>
                <a:gridCol w="3177064">
                  <a:extLst>
                    <a:ext uri="{9D8B030D-6E8A-4147-A177-3AD203B41FA5}">
                      <a16:colId xmlns:a16="http://schemas.microsoft.com/office/drawing/2014/main" val="20000"/>
                    </a:ext>
                  </a:extLst>
                </a:gridCol>
                <a:gridCol w="2723836">
                  <a:extLst>
                    <a:ext uri="{9D8B030D-6E8A-4147-A177-3AD203B41FA5}">
                      <a16:colId xmlns:a16="http://schemas.microsoft.com/office/drawing/2014/main" val="20001"/>
                    </a:ext>
                  </a:extLst>
                </a:gridCol>
              </a:tblGrid>
              <a:tr h="0">
                <a:tc>
                  <a:txBody>
                    <a:bodyPr/>
                    <a:lstStyle/>
                    <a:p>
                      <a:pPr algn="l">
                        <a:lnSpc>
                          <a:spcPts val="2520"/>
                        </a:lnSpc>
                        <a:defRPr/>
                      </a:pPr>
                      <a:r>
                        <a:rPr lang="en-US" sz="1800" b="1">
                          <a:solidFill>
                            <a:srgbClr val="000000"/>
                          </a:solidFill>
                          <a:latin typeface="Canva Sans Bold"/>
                          <a:ea typeface="Canva Sans Bold"/>
                          <a:cs typeface="Canva Sans Bold"/>
                          <a:sym typeface="Canva Sans Bold"/>
                        </a:rPr>
                        <a:t>SIDHANT PATNAIK .</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2520"/>
                        </a:lnSpc>
                        <a:defRPr/>
                      </a:pPr>
                      <a:r>
                        <a:rPr lang="en-US" sz="1800" b="1">
                          <a:solidFill>
                            <a:srgbClr val="000000"/>
                          </a:solidFill>
                          <a:latin typeface="Canva Sans Bold"/>
                          <a:ea typeface="Canva Sans Bold"/>
                          <a:cs typeface="Canva Sans Bold"/>
                          <a:sym typeface="Canva Sans Bold"/>
                        </a:rPr>
                        <a:t>2022B3A10297G</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3" name="Table 3"/>
          <p:cNvGraphicFramePr>
            <a:graphicFrameLocks noGrp="1"/>
          </p:cNvGraphicFramePr>
          <p:nvPr/>
        </p:nvGraphicFramePr>
        <p:xfrm>
          <a:off x="-32373" y="4363008"/>
          <a:ext cx="6095140" cy="679196"/>
        </p:xfrm>
        <a:graphic>
          <a:graphicData uri="http://schemas.openxmlformats.org/drawingml/2006/table">
            <a:tbl>
              <a:tblPr/>
              <a:tblGrid>
                <a:gridCol w="3112317">
                  <a:extLst>
                    <a:ext uri="{9D8B030D-6E8A-4147-A177-3AD203B41FA5}">
                      <a16:colId xmlns:a16="http://schemas.microsoft.com/office/drawing/2014/main" val="20000"/>
                    </a:ext>
                  </a:extLst>
                </a:gridCol>
                <a:gridCol w="2982823">
                  <a:extLst>
                    <a:ext uri="{9D8B030D-6E8A-4147-A177-3AD203B41FA5}">
                      <a16:colId xmlns:a16="http://schemas.microsoft.com/office/drawing/2014/main" val="20001"/>
                    </a:ext>
                  </a:extLst>
                </a:gridCol>
              </a:tblGrid>
              <a:tr h="0">
                <a:tc>
                  <a:txBody>
                    <a:bodyPr/>
                    <a:lstStyle/>
                    <a:p>
                      <a:pPr algn="l">
                        <a:lnSpc>
                          <a:spcPts val="2520"/>
                        </a:lnSpc>
                        <a:defRPr/>
                      </a:pPr>
                      <a:r>
                        <a:rPr lang="en-US" sz="1800" b="1">
                          <a:solidFill>
                            <a:srgbClr val="000000"/>
                          </a:solidFill>
                          <a:latin typeface="Canva Sans Bold"/>
                          <a:ea typeface="Canva Sans Bold"/>
                          <a:cs typeface="Canva Sans Bold"/>
                          <a:sym typeface="Canva Sans Bold"/>
                        </a:rPr>
                        <a:t>ROHAN PRIYADARSHI .</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2520"/>
                        </a:lnSpc>
                        <a:defRPr/>
                      </a:pPr>
                      <a:r>
                        <a:rPr lang="en-US" sz="1800" b="1">
                          <a:solidFill>
                            <a:srgbClr val="000000"/>
                          </a:solidFill>
                          <a:latin typeface="Canva Sans Bold"/>
                          <a:ea typeface="Canva Sans Bold"/>
                          <a:cs typeface="Canva Sans Bold"/>
                          <a:sym typeface="Canva Sans Bold"/>
                        </a:rPr>
                        <a:t>2022B3A40555G</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4" name="Table 4"/>
          <p:cNvGraphicFramePr>
            <a:graphicFrameLocks noGrp="1"/>
          </p:cNvGraphicFramePr>
          <p:nvPr/>
        </p:nvGraphicFramePr>
        <p:xfrm>
          <a:off x="0" y="4871622"/>
          <a:ext cx="6095140" cy="679196"/>
        </p:xfrm>
        <a:graphic>
          <a:graphicData uri="http://schemas.openxmlformats.org/drawingml/2006/table">
            <a:tbl>
              <a:tblPr/>
              <a:tblGrid>
                <a:gridCol w="3079943">
                  <a:extLst>
                    <a:ext uri="{9D8B030D-6E8A-4147-A177-3AD203B41FA5}">
                      <a16:colId xmlns:a16="http://schemas.microsoft.com/office/drawing/2014/main" val="20000"/>
                    </a:ext>
                  </a:extLst>
                </a:gridCol>
                <a:gridCol w="3015197">
                  <a:extLst>
                    <a:ext uri="{9D8B030D-6E8A-4147-A177-3AD203B41FA5}">
                      <a16:colId xmlns:a16="http://schemas.microsoft.com/office/drawing/2014/main" val="20001"/>
                    </a:ext>
                  </a:extLst>
                </a:gridCol>
              </a:tblGrid>
              <a:tr h="0">
                <a:tc>
                  <a:txBody>
                    <a:bodyPr/>
                    <a:lstStyle/>
                    <a:p>
                      <a:pPr algn="l">
                        <a:lnSpc>
                          <a:spcPts val="2520"/>
                        </a:lnSpc>
                        <a:defRPr/>
                      </a:pPr>
                      <a:r>
                        <a:rPr lang="en-US" sz="1800" b="1">
                          <a:solidFill>
                            <a:srgbClr val="000000"/>
                          </a:solidFill>
                          <a:latin typeface="Canva Sans Bold"/>
                          <a:ea typeface="Canva Sans Bold"/>
                          <a:cs typeface="Canva Sans Bold"/>
                          <a:sym typeface="Canva Sans Bold"/>
                        </a:rPr>
                        <a:t>ARYAN SINGHAL .</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2520"/>
                        </a:lnSpc>
                        <a:defRPr/>
                      </a:pPr>
                      <a:r>
                        <a:rPr lang="en-US" sz="1800" b="1">
                          <a:solidFill>
                            <a:srgbClr val="000000"/>
                          </a:solidFill>
                          <a:latin typeface="Canva Sans Bold"/>
                          <a:ea typeface="Canva Sans Bold"/>
                          <a:cs typeface="Canva Sans Bold"/>
                          <a:sym typeface="Canva Sans Bold"/>
                        </a:rPr>
                        <a:t>2022B3A70204G</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5" name="Table 5"/>
          <p:cNvGraphicFramePr>
            <a:graphicFrameLocks noGrp="1"/>
          </p:cNvGraphicFramePr>
          <p:nvPr/>
        </p:nvGraphicFramePr>
        <p:xfrm>
          <a:off x="0" y="5380235"/>
          <a:ext cx="5933089" cy="1047750"/>
        </p:xfrm>
        <a:graphic>
          <a:graphicData uri="http://schemas.openxmlformats.org/drawingml/2006/table">
            <a:tbl>
              <a:tblPr/>
              <a:tblGrid>
                <a:gridCol w="3015197">
                  <a:extLst>
                    <a:ext uri="{9D8B030D-6E8A-4147-A177-3AD203B41FA5}">
                      <a16:colId xmlns:a16="http://schemas.microsoft.com/office/drawing/2014/main" val="20000"/>
                    </a:ext>
                  </a:extLst>
                </a:gridCol>
                <a:gridCol w="2917892">
                  <a:extLst>
                    <a:ext uri="{9D8B030D-6E8A-4147-A177-3AD203B41FA5}">
                      <a16:colId xmlns:a16="http://schemas.microsoft.com/office/drawing/2014/main" val="20001"/>
                    </a:ext>
                  </a:extLst>
                </a:gridCol>
              </a:tblGrid>
              <a:tr h="1047750">
                <a:tc>
                  <a:txBody>
                    <a:bodyPr/>
                    <a:lstStyle/>
                    <a:p>
                      <a:pPr algn="l">
                        <a:lnSpc>
                          <a:spcPts val="2520"/>
                        </a:lnSpc>
                        <a:defRPr/>
                      </a:pPr>
                      <a:r>
                        <a:rPr lang="en-US" sz="1800" b="1">
                          <a:solidFill>
                            <a:srgbClr val="000000"/>
                          </a:solidFill>
                          <a:latin typeface="Canva Sans Bold"/>
                          <a:ea typeface="Canva Sans Bold"/>
                          <a:cs typeface="Canva Sans Bold"/>
                          <a:sym typeface="Canva Sans Bold"/>
                        </a:rPr>
                        <a:t>AYUSH SUBHASH JOSHI .</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2520"/>
                        </a:lnSpc>
                        <a:defRPr/>
                      </a:pPr>
                      <a:r>
                        <a:rPr lang="en-US" sz="1800" b="1">
                          <a:solidFill>
                            <a:srgbClr val="000000"/>
                          </a:solidFill>
                          <a:latin typeface="Canva Sans Bold"/>
                          <a:ea typeface="Canva Sans Bold"/>
                          <a:cs typeface="Canva Sans Bold"/>
                          <a:sym typeface="Canva Sans Bold"/>
                        </a:rPr>
                        <a:t>2022B3A70313G</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6" name="Table 6"/>
          <p:cNvGraphicFramePr>
            <a:graphicFrameLocks noGrp="1"/>
          </p:cNvGraphicFramePr>
          <p:nvPr/>
        </p:nvGraphicFramePr>
        <p:xfrm>
          <a:off x="0" y="6005181"/>
          <a:ext cx="6095140" cy="679196"/>
        </p:xfrm>
        <a:graphic>
          <a:graphicData uri="http://schemas.openxmlformats.org/drawingml/2006/table">
            <a:tbl>
              <a:tblPr/>
              <a:tblGrid>
                <a:gridCol w="3015197">
                  <a:extLst>
                    <a:ext uri="{9D8B030D-6E8A-4147-A177-3AD203B41FA5}">
                      <a16:colId xmlns:a16="http://schemas.microsoft.com/office/drawing/2014/main" val="20000"/>
                    </a:ext>
                  </a:extLst>
                </a:gridCol>
                <a:gridCol w="3079943">
                  <a:extLst>
                    <a:ext uri="{9D8B030D-6E8A-4147-A177-3AD203B41FA5}">
                      <a16:colId xmlns:a16="http://schemas.microsoft.com/office/drawing/2014/main" val="20001"/>
                    </a:ext>
                  </a:extLst>
                </a:gridCol>
              </a:tblGrid>
              <a:tr h="0">
                <a:tc>
                  <a:txBody>
                    <a:bodyPr/>
                    <a:lstStyle/>
                    <a:p>
                      <a:pPr algn="l">
                        <a:lnSpc>
                          <a:spcPts val="2520"/>
                        </a:lnSpc>
                        <a:defRPr/>
                      </a:pPr>
                      <a:r>
                        <a:rPr lang="en-US" sz="1800" b="1">
                          <a:solidFill>
                            <a:srgbClr val="000000"/>
                          </a:solidFill>
                          <a:latin typeface="Canva Sans Bold"/>
                          <a:ea typeface="Canva Sans Bold"/>
                          <a:cs typeface="Canva Sans Bold"/>
                          <a:sym typeface="Canva Sans Bold"/>
                        </a:rPr>
                        <a:t>SWASTIK SHARMA .</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2520"/>
                        </a:lnSpc>
                        <a:defRPr/>
                      </a:pPr>
                      <a:r>
                        <a:rPr lang="en-US" sz="1800" b="1">
                          <a:solidFill>
                            <a:srgbClr val="000000"/>
                          </a:solidFill>
                          <a:latin typeface="Canva Sans Bold"/>
                          <a:ea typeface="Canva Sans Bold"/>
                          <a:cs typeface="Canva Sans Bold"/>
                          <a:sym typeface="Canva Sans Bold"/>
                        </a:rPr>
                        <a:t>2022B3AA0802G</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7" name="Table 7"/>
          <p:cNvGraphicFramePr>
            <a:graphicFrameLocks noGrp="1"/>
          </p:cNvGraphicFramePr>
          <p:nvPr/>
        </p:nvGraphicFramePr>
        <p:xfrm>
          <a:off x="0" y="6400473"/>
          <a:ext cx="6095140" cy="1314196"/>
        </p:xfrm>
        <a:graphic>
          <a:graphicData uri="http://schemas.openxmlformats.org/drawingml/2006/table">
            <a:tbl>
              <a:tblPr/>
              <a:tblGrid>
                <a:gridCol w="3015197">
                  <a:extLst>
                    <a:ext uri="{9D8B030D-6E8A-4147-A177-3AD203B41FA5}">
                      <a16:colId xmlns:a16="http://schemas.microsoft.com/office/drawing/2014/main" val="20000"/>
                    </a:ext>
                  </a:extLst>
                </a:gridCol>
                <a:gridCol w="3079943">
                  <a:extLst>
                    <a:ext uri="{9D8B030D-6E8A-4147-A177-3AD203B41FA5}">
                      <a16:colId xmlns:a16="http://schemas.microsoft.com/office/drawing/2014/main" val="20001"/>
                    </a:ext>
                  </a:extLst>
                </a:gridCol>
              </a:tblGrid>
              <a:tr h="600135">
                <a:tc>
                  <a:txBody>
                    <a:bodyPr/>
                    <a:lstStyle/>
                    <a:p>
                      <a:pPr algn="l">
                        <a:lnSpc>
                          <a:spcPts val="2520"/>
                        </a:lnSpc>
                        <a:defRPr/>
                      </a:pPr>
                      <a:r>
                        <a:rPr lang="en-US" sz="1800" b="1">
                          <a:solidFill>
                            <a:srgbClr val="000000"/>
                          </a:solidFill>
                          <a:latin typeface="Canva Sans Bold"/>
                          <a:ea typeface="Canva Sans Bold"/>
                          <a:cs typeface="Canva Sans Bold"/>
                          <a:sym typeface="Canva Sans Bold"/>
                        </a:rPr>
                        <a:t>ARRUSH TEKKUMPURATH NAIR .</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2520"/>
                        </a:lnSpc>
                        <a:defRPr/>
                      </a:pPr>
                      <a:r>
                        <a:rPr lang="en-US" sz="1800" b="1">
                          <a:solidFill>
                            <a:srgbClr val="000000"/>
                          </a:solidFill>
                          <a:latin typeface="Canva Sans Bold"/>
                          <a:ea typeface="Canva Sans Bold"/>
                          <a:cs typeface="Canva Sans Bold"/>
                          <a:sym typeface="Canva Sans Bold"/>
                        </a:rPr>
                        <a:t>2022B3AA0468G</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8" name="Table 8"/>
          <p:cNvGraphicFramePr>
            <a:graphicFrameLocks noGrp="1"/>
          </p:cNvGraphicFramePr>
          <p:nvPr/>
        </p:nvGraphicFramePr>
        <p:xfrm>
          <a:off x="0" y="7773934"/>
          <a:ext cx="6159886" cy="679196"/>
        </p:xfrm>
        <a:graphic>
          <a:graphicData uri="http://schemas.openxmlformats.org/drawingml/2006/table">
            <a:tbl>
              <a:tblPr/>
              <a:tblGrid>
                <a:gridCol w="3079943">
                  <a:extLst>
                    <a:ext uri="{9D8B030D-6E8A-4147-A177-3AD203B41FA5}">
                      <a16:colId xmlns:a16="http://schemas.microsoft.com/office/drawing/2014/main" val="20000"/>
                    </a:ext>
                  </a:extLst>
                </a:gridCol>
                <a:gridCol w="3079943">
                  <a:extLst>
                    <a:ext uri="{9D8B030D-6E8A-4147-A177-3AD203B41FA5}">
                      <a16:colId xmlns:a16="http://schemas.microsoft.com/office/drawing/2014/main" val="20001"/>
                    </a:ext>
                  </a:extLst>
                </a:gridCol>
              </a:tblGrid>
              <a:tr h="409330">
                <a:tc>
                  <a:txBody>
                    <a:bodyPr/>
                    <a:lstStyle/>
                    <a:p>
                      <a:pPr algn="l">
                        <a:lnSpc>
                          <a:spcPts val="2520"/>
                        </a:lnSpc>
                        <a:defRPr/>
                      </a:pPr>
                      <a:r>
                        <a:rPr lang="en-US" sz="1800" b="1">
                          <a:solidFill>
                            <a:srgbClr val="000000"/>
                          </a:solidFill>
                          <a:latin typeface="Canva Sans Bold"/>
                          <a:ea typeface="Canva Sans Bold"/>
                          <a:cs typeface="Canva Sans Bold"/>
                          <a:sym typeface="Canva Sans Bold"/>
                        </a:rPr>
                        <a:t>HARSH DESHWAL .</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2520"/>
                        </a:lnSpc>
                        <a:defRPr/>
                      </a:pPr>
                      <a:r>
                        <a:rPr lang="en-US" sz="1800" b="1">
                          <a:solidFill>
                            <a:srgbClr val="000000"/>
                          </a:solidFill>
                          <a:latin typeface="Canva Sans Bold"/>
                          <a:ea typeface="Canva Sans Bold"/>
                          <a:cs typeface="Canva Sans Bold"/>
                          <a:sym typeface="Canva Sans Bold"/>
                        </a:rPr>
                        <a:t>2022B3A70920G</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9" name="Table 9"/>
          <p:cNvGraphicFramePr>
            <a:graphicFrameLocks noGrp="1"/>
          </p:cNvGraphicFramePr>
          <p:nvPr/>
        </p:nvGraphicFramePr>
        <p:xfrm>
          <a:off x="-64747" y="7071080"/>
          <a:ext cx="6159886" cy="679196"/>
        </p:xfrm>
        <a:graphic>
          <a:graphicData uri="http://schemas.openxmlformats.org/drawingml/2006/table">
            <a:tbl>
              <a:tblPr/>
              <a:tblGrid>
                <a:gridCol w="3079943">
                  <a:extLst>
                    <a:ext uri="{9D8B030D-6E8A-4147-A177-3AD203B41FA5}">
                      <a16:colId xmlns:a16="http://schemas.microsoft.com/office/drawing/2014/main" val="20000"/>
                    </a:ext>
                  </a:extLst>
                </a:gridCol>
                <a:gridCol w="3079943">
                  <a:extLst>
                    <a:ext uri="{9D8B030D-6E8A-4147-A177-3AD203B41FA5}">
                      <a16:colId xmlns:a16="http://schemas.microsoft.com/office/drawing/2014/main" val="20001"/>
                    </a:ext>
                  </a:extLst>
                </a:gridCol>
              </a:tblGrid>
              <a:tr h="0">
                <a:tc>
                  <a:txBody>
                    <a:bodyPr/>
                    <a:lstStyle/>
                    <a:p>
                      <a:pPr algn="l">
                        <a:lnSpc>
                          <a:spcPts val="2520"/>
                        </a:lnSpc>
                        <a:defRPr/>
                      </a:pPr>
                      <a:r>
                        <a:rPr lang="en-US" sz="1800" b="1">
                          <a:solidFill>
                            <a:srgbClr val="000000"/>
                          </a:solidFill>
                          <a:latin typeface="Canva Sans Bold"/>
                          <a:ea typeface="Canva Sans Bold"/>
                          <a:cs typeface="Canva Sans Bold"/>
                          <a:sym typeface="Canva Sans Bold"/>
                        </a:rPr>
                        <a:t>SHUBHAM SAHOO .</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2520"/>
                        </a:lnSpc>
                        <a:defRPr/>
                      </a:pPr>
                      <a:r>
                        <a:rPr lang="en-US" sz="1800" b="1">
                          <a:solidFill>
                            <a:srgbClr val="000000"/>
                          </a:solidFill>
                          <a:latin typeface="Canva Sans Bold"/>
                          <a:ea typeface="Canva Sans Bold"/>
                          <a:cs typeface="Canva Sans Bold"/>
                          <a:sym typeface="Canva Sans Bold"/>
                        </a:rPr>
                        <a:t>2022B3A70628G</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0" name="Table 10"/>
          <p:cNvGraphicFramePr>
            <a:graphicFrameLocks noGrp="1"/>
          </p:cNvGraphicFramePr>
          <p:nvPr/>
        </p:nvGraphicFramePr>
        <p:xfrm>
          <a:off x="0" y="8463522"/>
          <a:ext cx="6159886" cy="679196"/>
        </p:xfrm>
        <a:graphic>
          <a:graphicData uri="http://schemas.openxmlformats.org/drawingml/2006/table">
            <a:tbl>
              <a:tblPr/>
              <a:tblGrid>
                <a:gridCol w="3079943">
                  <a:extLst>
                    <a:ext uri="{9D8B030D-6E8A-4147-A177-3AD203B41FA5}">
                      <a16:colId xmlns:a16="http://schemas.microsoft.com/office/drawing/2014/main" val="20000"/>
                    </a:ext>
                  </a:extLst>
                </a:gridCol>
                <a:gridCol w="3079943">
                  <a:extLst>
                    <a:ext uri="{9D8B030D-6E8A-4147-A177-3AD203B41FA5}">
                      <a16:colId xmlns:a16="http://schemas.microsoft.com/office/drawing/2014/main" val="20001"/>
                    </a:ext>
                  </a:extLst>
                </a:gridCol>
              </a:tblGrid>
              <a:tr h="0">
                <a:tc>
                  <a:txBody>
                    <a:bodyPr/>
                    <a:lstStyle/>
                    <a:p>
                      <a:pPr algn="l">
                        <a:lnSpc>
                          <a:spcPts val="2520"/>
                        </a:lnSpc>
                        <a:defRPr/>
                      </a:pPr>
                      <a:r>
                        <a:rPr lang="en-US" sz="1800" b="1">
                          <a:solidFill>
                            <a:srgbClr val="000000"/>
                          </a:solidFill>
                          <a:latin typeface="Canva Sans Bold"/>
                          <a:ea typeface="Canva Sans Bold"/>
                          <a:cs typeface="Canva Sans Bold"/>
                          <a:sym typeface="Canva Sans Bold"/>
                        </a:rPr>
                        <a:t>SHAAN HASAN .</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tc>
                  <a:txBody>
                    <a:bodyPr/>
                    <a:lstStyle/>
                    <a:p>
                      <a:pPr algn="l">
                        <a:lnSpc>
                          <a:spcPts val="2520"/>
                        </a:lnSpc>
                        <a:defRPr/>
                      </a:pPr>
                      <a:r>
                        <a:rPr lang="en-US" sz="1800" b="1">
                          <a:solidFill>
                            <a:srgbClr val="000000"/>
                          </a:solidFill>
                          <a:latin typeface="Canva Sans Bold"/>
                          <a:ea typeface="Canva Sans Bold"/>
                          <a:cs typeface="Canva Sans Bold"/>
                          <a:sym typeface="Canva Sans Bold"/>
                        </a:rPr>
                        <a:t>2022B3A70328G</a:t>
                      </a:r>
                      <a:endParaRPr lang="en-US" sz="1100"/>
                    </a:p>
                  </a:txBody>
                  <a:tcPr marL="190500" marR="190500" marT="190500" marB="1905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11" name="Freeform 11"/>
          <p:cNvSpPr/>
          <p:nvPr/>
        </p:nvSpPr>
        <p:spPr>
          <a:xfrm>
            <a:off x="6526330" y="3681383"/>
            <a:ext cx="4849012" cy="5175591"/>
          </a:xfrm>
          <a:custGeom>
            <a:avLst/>
            <a:gdLst/>
            <a:ahLst/>
            <a:cxnLst/>
            <a:rect l="l" t="t" r="r" b="b"/>
            <a:pathLst>
              <a:path w="4849012" h="5175591">
                <a:moveTo>
                  <a:pt x="0" y="0"/>
                </a:moveTo>
                <a:lnTo>
                  <a:pt x="4849012" y="0"/>
                </a:lnTo>
                <a:lnTo>
                  <a:pt x="4849012" y="5175591"/>
                </a:lnTo>
                <a:lnTo>
                  <a:pt x="0" y="5175591"/>
                </a:lnTo>
                <a:lnTo>
                  <a:pt x="0" y="0"/>
                </a:lnTo>
                <a:close/>
              </a:path>
            </a:pathLst>
          </a:custGeom>
          <a:blipFill>
            <a:blip r:embed="rId2"/>
            <a:stretch>
              <a:fillRect l="-2393" t="-223" r="-4580"/>
            </a:stretch>
          </a:blipFill>
        </p:spPr>
      </p:sp>
      <p:sp>
        <p:nvSpPr>
          <p:cNvPr id="12" name="TextBox 12"/>
          <p:cNvSpPr txBox="1"/>
          <p:nvPr/>
        </p:nvSpPr>
        <p:spPr>
          <a:xfrm>
            <a:off x="642372" y="952500"/>
            <a:ext cx="16616928" cy="1402587"/>
          </a:xfrm>
          <a:prstGeom prst="rect">
            <a:avLst/>
          </a:prstGeom>
        </p:spPr>
        <p:txBody>
          <a:bodyPr lIns="0" tIns="0" rIns="0" bIns="0" rtlCol="0" anchor="t">
            <a:spAutoFit/>
          </a:bodyPr>
          <a:lstStyle/>
          <a:p>
            <a:pPr algn="ctr">
              <a:lnSpc>
                <a:spcPts val="5642"/>
              </a:lnSpc>
              <a:spcBef>
                <a:spcPct val="0"/>
              </a:spcBef>
            </a:pPr>
            <a:r>
              <a:rPr lang="en-US" sz="4030" b="1">
                <a:solidFill>
                  <a:srgbClr val="000000"/>
                </a:solidFill>
                <a:latin typeface="Canva Sans Bold"/>
                <a:ea typeface="Canva Sans Bold"/>
                <a:cs typeface="Canva Sans Bold"/>
                <a:sym typeface="Canva Sans Bold"/>
              </a:rPr>
              <a:t>Do institutional quality and its threshold matter in the sensitivity of the renewable energy transition to financial development?</a:t>
            </a:r>
          </a:p>
        </p:txBody>
      </p:sp>
      <p:sp>
        <p:nvSpPr>
          <p:cNvPr id="13" name="TextBox 13"/>
          <p:cNvSpPr txBox="1"/>
          <p:nvPr/>
        </p:nvSpPr>
        <p:spPr>
          <a:xfrm>
            <a:off x="2885519" y="2465854"/>
            <a:ext cx="12807729" cy="1215529"/>
          </a:xfrm>
          <a:prstGeom prst="rect">
            <a:avLst/>
          </a:prstGeom>
        </p:spPr>
        <p:txBody>
          <a:bodyPr lIns="0" tIns="0" rIns="0" bIns="0" rtlCol="0" anchor="t">
            <a:spAutoFit/>
          </a:bodyPr>
          <a:lstStyle/>
          <a:p>
            <a:pPr algn="ctr">
              <a:lnSpc>
                <a:spcPts val="4927"/>
              </a:lnSpc>
              <a:spcBef>
                <a:spcPct val="0"/>
              </a:spcBef>
            </a:pPr>
            <a:r>
              <a:rPr lang="en-US" sz="3519">
                <a:solidFill>
                  <a:srgbClr val="000000"/>
                </a:solidFill>
                <a:latin typeface="Canva Sans"/>
                <a:ea typeface="Canva Sans"/>
                <a:cs typeface="Canva Sans"/>
                <a:sym typeface="Canva Sans"/>
              </a:rPr>
              <a:t>An Analysis of Lower Middle-income economies</a:t>
            </a:r>
          </a:p>
          <a:p>
            <a:pPr algn="ctr">
              <a:lnSpc>
                <a:spcPts val="4927"/>
              </a:lnSpc>
              <a:spcBef>
                <a:spcPct val="0"/>
              </a:spcBef>
            </a:pPr>
            <a:endParaRPr lang="en-US" sz="3519">
              <a:solidFill>
                <a:srgbClr val="000000"/>
              </a:solidFill>
              <a:latin typeface="Canva Sans"/>
              <a:ea typeface="Canva Sans"/>
              <a:cs typeface="Canva Sans"/>
              <a:sym typeface="Canva Sans"/>
            </a:endParaRPr>
          </a:p>
        </p:txBody>
      </p:sp>
      <p:sp>
        <p:nvSpPr>
          <p:cNvPr id="14" name="TextBox 14"/>
          <p:cNvSpPr txBox="1"/>
          <p:nvPr/>
        </p:nvSpPr>
        <p:spPr>
          <a:xfrm>
            <a:off x="12269657" y="4048193"/>
            <a:ext cx="4954610" cy="1956988"/>
          </a:xfrm>
          <a:prstGeom prst="rect">
            <a:avLst/>
          </a:prstGeom>
        </p:spPr>
        <p:txBody>
          <a:bodyPr lIns="0" tIns="0" rIns="0" bIns="0" rtlCol="0" anchor="t">
            <a:spAutoFit/>
          </a:bodyPr>
          <a:lstStyle/>
          <a:p>
            <a:pPr algn="ctr">
              <a:lnSpc>
                <a:spcPts val="3959"/>
              </a:lnSpc>
              <a:spcBef>
                <a:spcPct val="0"/>
              </a:spcBef>
            </a:pPr>
            <a:endParaRPr/>
          </a:p>
          <a:p>
            <a:pPr algn="ctr">
              <a:lnSpc>
                <a:spcPts val="3959"/>
              </a:lnSpc>
              <a:spcBef>
                <a:spcPct val="0"/>
              </a:spcBef>
            </a:pPr>
            <a:r>
              <a:rPr lang="en-US" sz="2828" b="1">
                <a:solidFill>
                  <a:srgbClr val="000000"/>
                </a:solidFill>
                <a:latin typeface="Canva Sans Bold"/>
                <a:ea typeface="Canva Sans Bold"/>
                <a:cs typeface="Canva Sans Bold"/>
                <a:sym typeface="Canva Sans Bold"/>
              </a:rPr>
              <a:t>  Submitted to</a:t>
            </a:r>
          </a:p>
          <a:p>
            <a:pPr algn="ctr">
              <a:lnSpc>
                <a:spcPts val="3959"/>
              </a:lnSpc>
              <a:spcBef>
                <a:spcPct val="0"/>
              </a:spcBef>
            </a:pPr>
            <a:r>
              <a:rPr lang="en-US" sz="2828" b="1">
                <a:solidFill>
                  <a:srgbClr val="000000"/>
                </a:solidFill>
                <a:latin typeface="Canva Sans Bold"/>
                <a:ea typeface="Canva Sans Bold"/>
                <a:cs typeface="Canva Sans Bold"/>
                <a:sym typeface="Canva Sans Bold"/>
              </a:rPr>
              <a:t>Dr. Aswini Kumar Mishra</a:t>
            </a:r>
          </a:p>
          <a:p>
            <a:pPr algn="ctr">
              <a:lnSpc>
                <a:spcPts val="3959"/>
              </a:lnSpc>
              <a:spcBef>
                <a:spcPct val="0"/>
              </a:spcBef>
            </a:pPr>
            <a:endParaRPr lang="en-US" sz="2828" b="1">
              <a:solidFill>
                <a:srgbClr val="000000"/>
              </a:solidFill>
              <a:latin typeface="Canva Sans Bold"/>
              <a:ea typeface="Canva Sans Bold"/>
              <a:cs typeface="Canva Sans Bold"/>
              <a:sym typeface="Canva Sans Bold"/>
            </a:endParaRPr>
          </a:p>
        </p:txBody>
      </p:sp>
      <p:sp>
        <p:nvSpPr>
          <p:cNvPr id="15" name="TextBox 15"/>
          <p:cNvSpPr txBox="1"/>
          <p:nvPr/>
        </p:nvSpPr>
        <p:spPr>
          <a:xfrm>
            <a:off x="11205924" y="6333798"/>
            <a:ext cx="7082076" cy="1144906"/>
          </a:xfrm>
          <a:prstGeom prst="rect">
            <a:avLst/>
          </a:prstGeom>
        </p:spPr>
        <p:txBody>
          <a:bodyPr lIns="0" tIns="0" rIns="0" bIns="0" rtlCol="0" anchor="t">
            <a:spAutoFit/>
          </a:bodyPr>
          <a:lstStyle/>
          <a:p>
            <a:pPr algn="ctr">
              <a:lnSpc>
                <a:spcPts val="4619"/>
              </a:lnSpc>
              <a:spcBef>
                <a:spcPct val="0"/>
              </a:spcBef>
            </a:pPr>
            <a:r>
              <a:rPr lang="en-US" sz="3299" b="1">
                <a:solidFill>
                  <a:srgbClr val="000000"/>
                </a:solidFill>
                <a:latin typeface="Canva Sans Bold"/>
                <a:ea typeface="Canva Sans Bold"/>
                <a:cs typeface="Canva Sans Bold"/>
                <a:sym typeface="Canva Sans Bold"/>
              </a:rPr>
              <a:t>Course: Applied Econometrics (ECON F342)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201067"/>
            <a:ext cx="16230600" cy="6057233"/>
          </a:xfrm>
          <a:prstGeom prst="rect">
            <a:avLst/>
          </a:prstGeom>
        </p:spPr>
        <p:txBody>
          <a:bodyPr lIns="0" tIns="0" rIns="0" bIns="0" rtlCol="0" anchor="t">
            <a:spAutoFit/>
          </a:bodyPr>
          <a:lstStyle/>
          <a:p>
            <a:pPr algn="just">
              <a:lnSpc>
                <a:spcPts val="3711"/>
              </a:lnSpc>
            </a:pPr>
            <a:r>
              <a:rPr lang="en-US" sz="2651">
                <a:solidFill>
                  <a:srgbClr val="000000"/>
                </a:solidFill>
                <a:latin typeface="Canva Sans"/>
                <a:ea typeface="Canva Sans"/>
                <a:cs typeface="Canva Sans"/>
                <a:sym typeface="Canva Sans"/>
              </a:rPr>
              <a:t>The main objectives are to:</a:t>
            </a:r>
          </a:p>
          <a:p>
            <a:pPr algn="just">
              <a:lnSpc>
                <a:spcPts val="3711"/>
              </a:lnSpc>
            </a:pPr>
            <a:r>
              <a:rPr lang="en-US" sz="2651">
                <a:solidFill>
                  <a:srgbClr val="000000"/>
                </a:solidFill>
                <a:latin typeface="Canva Sans"/>
                <a:ea typeface="Canva Sans"/>
                <a:cs typeface="Canva Sans"/>
                <a:sym typeface="Canva Sans"/>
              </a:rPr>
              <a:t>• Determine the threshold effects of institutional quality;</a:t>
            </a:r>
          </a:p>
          <a:p>
            <a:pPr algn="just">
              <a:lnSpc>
                <a:spcPts val="3711"/>
              </a:lnSpc>
            </a:pPr>
            <a:r>
              <a:rPr lang="en-US" sz="2651">
                <a:solidFill>
                  <a:srgbClr val="000000"/>
                </a:solidFill>
                <a:latin typeface="Canva Sans"/>
                <a:ea typeface="Canva Sans"/>
                <a:cs typeface="Canva Sans"/>
                <a:sym typeface="Canva Sans"/>
              </a:rPr>
              <a:t>• Examine the role of financial development in the energy transition;</a:t>
            </a:r>
          </a:p>
          <a:p>
            <a:pPr algn="just">
              <a:lnSpc>
                <a:spcPts val="3711"/>
              </a:lnSpc>
            </a:pPr>
            <a:r>
              <a:rPr lang="en-US" sz="2651">
                <a:solidFill>
                  <a:srgbClr val="000000"/>
                </a:solidFill>
                <a:latin typeface="Canva Sans"/>
                <a:ea typeface="Canva Sans"/>
                <a:cs typeface="Canva Sans"/>
                <a:sym typeface="Canva Sans"/>
              </a:rPr>
              <a:t>• Apply strong econometric techniques;</a:t>
            </a:r>
          </a:p>
          <a:p>
            <a:pPr algn="just">
              <a:lnSpc>
                <a:spcPts val="3711"/>
              </a:lnSpc>
            </a:pPr>
            <a:endParaRPr lang="en-US" sz="2651">
              <a:solidFill>
                <a:srgbClr val="000000"/>
              </a:solidFill>
              <a:latin typeface="Canva Sans"/>
              <a:ea typeface="Canva Sans"/>
              <a:cs typeface="Canva Sans"/>
              <a:sym typeface="Canva Sans"/>
            </a:endParaRPr>
          </a:p>
          <a:p>
            <a:pPr algn="just">
              <a:lnSpc>
                <a:spcPts val="3711"/>
              </a:lnSpc>
            </a:pPr>
            <a:r>
              <a:rPr lang="en-US" sz="2651">
                <a:solidFill>
                  <a:srgbClr val="000000"/>
                </a:solidFill>
                <a:latin typeface="Canva Sans"/>
                <a:ea typeface="Canva Sans"/>
                <a:cs typeface="Canva Sans"/>
                <a:sym typeface="Canva Sans"/>
              </a:rPr>
              <a:t>Important queries:</a:t>
            </a:r>
          </a:p>
          <a:p>
            <a:pPr algn="just">
              <a:lnSpc>
                <a:spcPts val="3711"/>
              </a:lnSpc>
            </a:pPr>
            <a:endParaRPr lang="en-US" sz="2651">
              <a:solidFill>
                <a:srgbClr val="000000"/>
              </a:solidFill>
              <a:latin typeface="Canva Sans"/>
              <a:ea typeface="Canva Sans"/>
              <a:cs typeface="Canva Sans"/>
              <a:sym typeface="Canva Sans"/>
            </a:endParaRPr>
          </a:p>
          <a:p>
            <a:pPr marL="572408" lvl="1" indent="-286204" algn="just">
              <a:lnSpc>
                <a:spcPts val="3711"/>
              </a:lnSpc>
              <a:buFont typeface="Arial"/>
              <a:buChar char="•"/>
            </a:pPr>
            <a:r>
              <a:rPr lang="en-US" sz="2651">
                <a:solidFill>
                  <a:srgbClr val="000000"/>
                </a:solidFill>
                <a:latin typeface="Canva Sans"/>
                <a:ea typeface="Canva Sans"/>
                <a:cs typeface="Canva Sans"/>
                <a:sym typeface="Canva Sans"/>
              </a:rPr>
              <a:t>What is the moderating effect of institutional quality, and how does financial development impact the transition to renewable energy?</a:t>
            </a:r>
          </a:p>
          <a:p>
            <a:pPr marL="572408" lvl="1" indent="-286204" algn="just">
              <a:lnSpc>
                <a:spcPts val="3711"/>
              </a:lnSpc>
              <a:buFont typeface="Arial"/>
              <a:buChar char="•"/>
            </a:pPr>
            <a:r>
              <a:rPr lang="en-US" sz="2651">
                <a:solidFill>
                  <a:srgbClr val="000000"/>
                </a:solidFill>
                <a:latin typeface="Canva Sans"/>
                <a:ea typeface="Canva Sans"/>
                <a:cs typeface="Canva Sans"/>
                <a:sym typeface="Canva Sans"/>
              </a:rPr>
              <a:t>Does the impact of financial development increase with a certain level of institutional quality?</a:t>
            </a:r>
          </a:p>
          <a:p>
            <a:pPr marL="572408" lvl="1" indent="-286204" algn="just">
              <a:lnSpc>
                <a:spcPts val="3711"/>
              </a:lnSpc>
              <a:buFont typeface="Arial"/>
              <a:buChar char="•"/>
            </a:pPr>
            <a:r>
              <a:rPr lang="en-US" sz="2651">
                <a:solidFill>
                  <a:srgbClr val="000000"/>
                </a:solidFill>
                <a:latin typeface="Canva Sans"/>
                <a:ea typeface="Canva Sans"/>
                <a:cs typeface="Canva Sans"/>
                <a:sym typeface="Canva Sans"/>
              </a:rPr>
              <a:t>What obstacles are there, and how can laws overcome them?</a:t>
            </a:r>
          </a:p>
          <a:p>
            <a:pPr marL="572408" lvl="1" indent="-286204" algn="just">
              <a:lnSpc>
                <a:spcPts val="3711"/>
              </a:lnSpc>
              <a:buFont typeface="Arial"/>
              <a:buChar char="•"/>
            </a:pPr>
            <a:r>
              <a:rPr lang="en-US" sz="2651">
                <a:solidFill>
                  <a:srgbClr val="000000"/>
                </a:solidFill>
                <a:latin typeface="Canva Sans"/>
                <a:ea typeface="Canva Sans"/>
                <a:cs typeface="Canva Sans"/>
                <a:sym typeface="Canva Sans"/>
              </a:rPr>
              <a:t>These are some of the objectives for this report.</a:t>
            </a:r>
          </a:p>
          <a:p>
            <a:pPr algn="just">
              <a:lnSpc>
                <a:spcPts val="3711"/>
              </a:lnSpc>
            </a:pPr>
            <a:endParaRPr lang="en-US" sz="2651">
              <a:solidFill>
                <a:srgbClr val="000000"/>
              </a:solidFill>
              <a:latin typeface="Canva Sans"/>
              <a:ea typeface="Canva Sans"/>
              <a:cs typeface="Canva Sans"/>
              <a:sym typeface="Canva Sans"/>
            </a:endParaRPr>
          </a:p>
        </p:txBody>
      </p:sp>
      <p:sp>
        <p:nvSpPr>
          <p:cNvPr id="3" name="TextBox 3"/>
          <p:cNvSpPr txBox="1"/>
          <p:nvPr/>
        </p:nvSpPr>
        <p:spPr>
          <a:xfrm>
            <a:off x="1028700" y="933450"/>
            <a:ext cx="4457700" cy="887095"/>
          </a:xfrm>
          <a:prstGeom prst="rect">
            <a:avLst/>
          </a:prstGeom>
        </p:spPr>
        <p:txBody>
          <a:bodyPr wrap="square" lIns="0" tIns="0" rIns="0" bIns="0" rtlCol="0" anchor="t">
            <a:spAutoFit/>
          </a:bodyPr>
          <a:lstStyle/>
          <a:p>
            <a:pPr algn="ctr">
              <a:lnSpc>
                <a:spcPts val="7279"/>
              </a:lnSpc>
            </a:pPr>
            <a:r>
              <a:rPr lang="en-US" sz="5199" b="1" dirty="0">
                <a:solidFill>
                  <a:srgbClr val="000000"/>
                </a:solidFill>
                <a:latin typeface="Canva Sans Bold"/>
                <a:ea typeface="Canva Sans Bold"/>
                <a:cs typeface="Canva Sans Bold"/>
                <a:sym typeface="Canva Sans Bold"/>
              </a:rPr>
              <a:t>OBJECTIVES</a:t>
            </a:r>
          </a:p>
        </p:txBody>
      </p:sp>
      <p:sp>
        <p:nvSpPr>
          <p:cNvPr id="4" name="TextBox 4"/>
          <p:cNvSpPr txBox="1"/>
          <p:nvPr/>
        </p:nvSpPr>
        <p:spPr>
          <a:xfrm>
            <a:off x="1028700" y="1983631"/>
            <a:ext cx="16230600" cy="1526540"/>
          </a:xfrm>
          <a:prstGeom prst="rect">
            <a:avLst/>
          </a:prstGeom>
        </p:spPr>
        <p:txBody>
          <a:bodyPr lIns="0" tIns="0" rIns="0" bIns="0" rtlCol="0" anchor="t">
            <a:spAutoFit/>
          </a:bodyPr>
          <a:lstStyle/>
          <a:p>
            <a:pPr algn="just">
              <a:lnSpc>
                <a:spcPts val="4060"/>
              </a:lnSpc>
            </a:pPr>
            <a:r>
              <a:rPr lang="en-US" sz="2900">
                <a:solidFill>
                  <a:srgbClr val="000000"/>
                </a:solidFill>
                <a:latin typeface="Canva Sans"/>
                <a:ea typeface="Canva Sans"/>
                <a:cs typeface="Canva Sans"/>
                <a:sym typeface="Canva Sans"/>
              </a:rPr>
              <a:t>To check the relationship between financial development, institutional quality, and renewable energy transition in Lower Middle Income countries.</a:t>
            </a:r>
          </a:p>
          <a:p>
            <a:pPr algn="just">
              <a:lnSpc>
                <a:spcPts val="4060"/>
              </a:lnSpc>
            </a:pPr>
            <a:endParaRPr lang="en-US" sz="2900">
              <a:solidFill>
                <a:srgbClr val="000000"/>
              </a:solidFill>
              <a:latin typeface="Canva Sans"/>
              <a:ea typeface="Canva Sans"/>
              <a:cs typeface="Canva Sans"/>
              <a:sym typeface="Canv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958166" y="3945524"/>
            <a:ext cx="14371668" cy="1115288"/>
          </a:xfrm>
          <a:prstGeom prst="rect">
            <a:avLst/>
          </a:prstGeom>
        </p:spPr>
        <p:txBody>
          <a:bodyPr lIns="0" tIns="0" rIns="0" bIns="0" rtlCol="0" anchor="t">
            <a:spAutoFit/>
          </a:bodyPr>
          <a:lstStyle/>
          <a:p>
            <a:pPr algn="ctr">
              <a:lnSpc>
                <a:spcPts val="9115"/>
              </a:lnSpc>
            </a:pPr>
            <a:r>
              <a:rPr lang="en-US" sz="6510" b="1">
                <a:solidFill>
                  <a:srgbClr val="000000"/>
                </a:solidFill>
                <a:latin typeface="Canva Sans Bold"/>
                <a:ea typeface="Canva Sans Bold"/>
                <a:cs typeface="Canva Sans Bold"/>
                <a:sym typeface="Canva Sans Bold"/>
              </a:rPr>
              <a:t>LITERATURE REVIEW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42372" y="540741"/>
            <a:ext cx="17003256" cy="9205519"/>
            <a:chOff x="0" y="0"/>
            <a:chExt cx="4478224" cy="2424499"/>
          </a:xfrm>
        </p:grpSpPr>
        <p:sp>
          <p:nvSpPr>
            <p:cNvPr id="3" name="Freeform 3"/>
            <p:cNvSpPr/>
            <p:nvPr/>
          </p:nvSpPr>
          <p:spPr>
            <a:xfrm>
              <a:off x="0" y="0"/>
              <a:ext cx="4478224" cy="2424499"/>
            </a:xfrm>
            <a:custGeom>
              <a:avLst/>
              <a:gdLst/>
              <a:ahLst/>
              <a:cxnLst/>
              <a:rect l="l" t="t" r="r" b="b"/>
              <a:pathLst>
                <a:path w="4478224" h="2424499">
                  <a:moveTo>
                    <a:pt x="23221" y="0"/>
                  </a:moveTo>
                  <a:lnTo>
                    <a:pt x="4455002" y="0"/>
                  </a:lnTo>
                  <a:cubicBezTo>
                    <a:pt x="4467827" y="0"/>
                    <a:pt x="4478224" y="10397"/>
                    <a:pt x="4478224" y="23221"/>
                  </a:cubicBezTo>
                  <a:lnTo>
                    <a:pt x="4478224" y="2401277"/>
                  </a:lnTo>
                  <a:cubicBezTo>
                    <a:pt x="4478224" y="2414102"/>
                    <a:pt x="4467827" y="2424499"/>
                    <a:pt x="4455002" y="2424499"/>
                  </a:cubicBezTo>
                  <a:lnTo>
                    <a:pt x="23221" y="2424499"/>
                  </a:lnTo>
                  <a:cubicBezTo>
                    <a:pt x="10397" y="2424499"/>
                    <a:pt x="0" y="2414102"/>
                    <a:pt x="0" y="2401277"/>
                  </a:cubicBezTo>
                  <a:lnTo>
                    <a:pt x="0" y="23221"/>
                  </a:lnTo>
                  <a:cubicBezTo>
                    <a:pt x="0" y="10397"/>
                    <a:pt x="10397" y="0"/>
                    <a:pt x="23221" y="0"/>
                  </a:cubicBezTo>
                  <a:close/>
                </a:path>
              </a:pathLst>
            </a:custGeom>
            <a:solidFill>
              <a:srgbClr val="000000">
                <a:alpha val="0"/>
              </a:srgbClr>
            </a:solidFill>
            <a:ln w="38100" cap="rnd">
              <a:solidFill>
                <a:srgbClr val="000000"/>
              </a:solidFill>
              <a:prstDash val="solid"/>
              <a:round/>
            </a:ln>
          </p:spPr>
        </p:sp>
        <p:sp>
          <p:nvSpPr>
            <p:cNvPr id="4" name="TextBox 4"/>
            <p:cNvSpPr txBox="1"/>
            <p:nvPr/>
          </p:nvSpPr>
          <p:spPr>
            <a:xfrm>
              <a:off x="0" y="-38100"/>
              <a:ext cx="4478224" cy="2462599"/>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8700" y="4202311"/>
            <a:ext cx="10001713" cy="5275330"/>
            <a:chOff x="0" y="0"/>
            <a:chExt cx="2634196" cy="1389387"/>
          </a:xfrm>
        </p:grpSpPr>
        <p:sp>
          <p:nvSpPr>
            <p:cNvPr id="6" name="Freeform 6"/>
            <p:cNvSpPr/>
            <p:nvPr/>
          </p:nvSpPr>
          <p:spPr>
            <a:xfrm>
              <a:off x="0" y="0"/>
              <a:ext cx="2634196" cy="1389387"/>
            </a:xfrm>
            <a:custGeom>
              <a:avLst/>
              <a:gdLst/>
              <a:ahLst/>
              <a:cxnLst/>
              <a:rect l="l" t="t" r="r" b="b"/>
              <a:pathLst>
                <a:path w="2634196" h="1389387">
                  <a:moveTo>
                    <a:pt x="39477" y="0"/>
                  </a:moveTo>
                  <a:lnTo>
                    <a:pt x="2594719" y="0"/>
                  </a:lnTo>
                  <a:cubicBezTo>
                    <a:pt x="2605189" y="0"/>
                    <a:pt x="2615230" y="4159"/>
                    <a:pt x="2622634" y="11563"/>
                  </a:cubicBezTo>
                  <a:cubicBezTo>
                    <a:pt x="2630037" y="18966"/>
                    <a:pt x="2634196" y="29007"/>
                    <a:pt x="2634196" y="39477"/>
                  </a:cubicBezTo>
                  <a:lnTo>
                    <a:pt x="2634196" y="1349910"/>
                  </a:lnTo>
                  <a:cubicBezTo>
                    <a:pt x="2634196" y="1360380"/>
                    <a:pt x="2630037" y="1370421"/>
                    <a:pt x="2622634" y="1377825"/>
                  </a:cubicBezTo>
                  <a:cubicBezTo>
                    <a:pt x="2615230" y="1385228"/>
                    <a:pt x="2605189" y="1389387"/>
                    <a:pt x="2594719" y="1389387"/>
                  </a:cubicBezTo>
                  <a:lnTo>
                    <a:pt x="39477" y="1389387"/>
                  </a:lnTo>
                  <a:cubicBezTo>
                    <a:pt x="29007" y="1389387"/>
                    <a:pt x="18966" y="1385228"/>
                    <a:pt x="11563" y="1377825"/>
                  </a:cubicBezTo>
                  <a:cubicBezTo>
                    <a:pt x="4159" y="1370421"/>
                    <a:pt x="0" y="1360380"/>
                    <a:pt x="0" y="1349910"/>
                  </a:cubicBezTo>
                  <a:lnTo>
                    <a:pt x="0" y="39477"/>
                  </a:lnTo>
                  <a:cubicBezTo>
                    <a:pt x="0" y="29007"/>
                    <a:pt x="4159" y="18966"/>
                    <a:pt x="11563" y="11563"/>
                  </a:cubicBezTo>
                  <a:cubicBezTo>
                    <a:pt x="18966" y="4159"/>
                    <a:pt x="29007" y="0"/>
                    <a:pt x="39477" y="0"/>
                  </a:cubicBezTo>
                  <a:close/>
                </a:path>
              </a:pathLst>
            </a:custGeom>
            <a:solidFill>
              <a:srgbClr val="0CC0DF"/>
            </a:solidFill>
          </p:spPr>
        </p:sp>
        <p:sp>
          <p:nvSpPr>
            <p:cNvPr id="7" name="TextBox 7"/>
            <p:cNvSpPr txBox="1"/>
            <p:nvPr/>
          </p:nvSpPr>
          <p:spPr>
            <a:xfrm>
              <a:off x="0" y="-38100"/>
              <a:ext cx="2634196" cy="1427487"/>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1264914" y="2505835"/>
            <a:ext cx="5994386" cy="5275330"/>
            <a:chOff x="0" y="0"/>
            <a:chExt cx="7992514" cy="7033774"/>
          </a:xfrm>
        </p:grpSpPr>
        <p:grpSp>
          <p:nvGrpSpPr>
            <p:cNvPr id="9" name="Group 9"/>
            <p:cNvGrpSpPr/>
            <p:nvPr/>
          </p:nvGrpSpPr>
          <p:grpSpPr>
            <a:xfrm>
              <a:off x="0" y="0"/>
              <a:ext cx="7992514" cy="7033774"/>
              <a:chOff x="0" y="0"/>
              <a:chExt cx="1578768" cy="1389387"/>
            </a:xfrm>
          </p:grpSpPr>
          <p:sp>
            <p:nvSpPr>
              <p:cNvPr id="10" name="Freeform 10"/>
              <p:cNvSpPr/>
              <p:nvPr/>
            </p:nvSpPr>
            <p:spPr>
              <a:xfrm>
                <a:off x="0" y="0"/>
                <a:ext cx="1578768" cy="1389387"/>
              </a:xfrm>
              <a:custGeom>
                <a:avLst/>
                <a:gdLst/>
                <a:ahLst/>
                <a:cxnLst/>
                <a:rect l="l" t="t" r="r" b="b"/>
                <a:pathLst>
                  <a:path w="1578768" h="1389387">
                    <a:moveTo>
                      <a:pt x="65868" y="0"/>
                    </a:moveTo>
                    <a:lnTo>
                      <a:pt x="1512900" y="0"/>
                    </a:lnTo>
                    <a:cubicBezTo>
                      <a:pt x="1549278" y="0"/>
                      <a:pt x="1578768" y="29490"/>
                      <a:pt x="1578768" y="65868"/>
                    </a:cubicBezTo>
                    <a:lnTo>
                      <a:pt x="1578768" y="1323519"/>
                    </a:lnTo>
                    <a:cubicBezTo>
                      <a:pt x="1578768" y="1340989"/>
                      <a:pt x="1571829" y="1357743"/>
                      <a:pt x="1559476" y="1370095"/>
                    </a:cubicBezTo>
                    <a:cubicBezTo>
                      <a:pt x="1547123" y="1382448"/>
                      <a:pt x="1530369" y="1389387"/>
                      <a:pt x="1512900" y="1389387"/>
                    </a:cubicBezTo>
                    <a:lnTo>
                      <a:pt x="65868" y="1389387"/>
                    </a:lnTo>
                    <a:cubicBezTo>
                      <a:pt x="48399" y="1389387"/>
                      <a:pt x="31645" y="1382448"/>
                      <a:pt x="19292" y="1370095"/>
                    </a:cubicBezTo>
                    <a:cubicBezTo>
                      <a:pt x="6940" y="1357743"/>
                      <a:pt x="0" y="1340989"/>
                      <a:pt x="0" y="1323519"/>
                    </a:cubicBezTo>
                    <a:lnTo>
                      <a:pt x="0" y="65868"/>
                    </a:lnTo>
                    <a:cubicBezTo>
                      <a:pt x="0" y="48399"/>
                      <a:pt x="6940" y="31645"/>
                      <a:pt x="19292" y="19292"/>
                    </a:cubicBezTo>
                    <a:cubicBezTo>
                      <a:pt x="31645" y="6940"/>
                      <a:pt x="48399" y="0"/>
                      <a:pt x="65868" y="0"/>
                    </a:cubicBezTo>
                    <a:close/>
                  </a:path>
                </a:pathLst>
              </a:custGeom>
              <a:solidFill>
                <a:srgbClr val="FFBD59"/>
              </a:solidFill>
              <a:ln w="38100" cap="rnd">
                <a:solidFill>
                  <a:srgbClr val="000000"/>
                </a:solidFill>
                <a:prstDash val="solid"/>
                <a:round/>
              </a:ln>
            </p:spPr>
          </p:sp>
          <p:sp>
            <p:nvSpPr>
              <p:cNvPr id="11" name="TextBox 11"/>
              <p:cNvSpPr txBox="1"/>
              <p:nvPr/>
            </p:nvSpPr>
            <p:spPr>
              <a:xfrm>
                <a:off x="0" y="-38100"/>
                <a:ext cx="1578768" cy="1427487"/>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346674" y="293813"/>
              <a:ext cx="7357702" cy="6384046"/>
              <a:chOff x="0" y="0"/>
              <a:chExt cx="895207" cy="776743"/>
            </a:xfrm>
          </p:grpSpPr>
          <p:sp>
            <p:nvSpPr>
              <p:cNvPr id="13" name="Freeform 13"/>
              <p:cNvSpPr/>
              <p:nvPr/>
            </p:nvSpPr>
            <p:spPr>
              <a:xfrm>
                <a:off x="0" y="0"/>
                <a:ext cx="895207" cy="776743"/>
              </a:xfrm>
              <a:custGeom>
                <a:avLst/>
                <a:gdLst/>
                <a:ahLst/>
                <a:cxnLst/>
                <a:rect l="l" t="t" r="r" b="b"/>
                <a:pathLst>
                  <a:path w="895207" h="776743">
                    <a:moveTo>
                      <a:pt x="25253" y="0"/>
                    </a:moveTo>
                    <a:lnTo>
                      <a:pt x="869954" y="0"/>
                    </a:lnTo>
                    <a:cubicBezTo>
                      <a:pt x="883901" y="0"/>
                      <a:pt x="895207" y="11306"/>
                      <a:pt x="895207" y="25253"/>
                    </a:cubicBezTo>
                    <a:lnTo>
                      <a:pt x="895207" y="751490"/>
                    </a:lnTo>
                    <a:cubicBezTo>
                      <a:pt x="895207" y="765437"/>
                      <a:pt x="883901" y="776743"/>
                      <a:pt x="869954" y="776743"/>
                    </a:cubicBezTo>
                    <a:lnTo>
                      <a:pt x="25253" y="776743"/>
                    </a:lnTo>
                    <a:cubicBezTo>
                      <a:pt x="11306" y="776743"/>
                      <a:pt x="0" y="765437"/>
                      <a:pt x="0" y="751490"/>
                    </a:cubicBezTo>
                    <a:lnTo>
                      <a:pt x="0" y="25253"/>
                    </a:lnTo>
                    <a:cubicBezTo>
                      <a:pt x="0" y="11306"/>
                      <a:pt x="11306" y="0"/>
                      <a:pt x="25253" y="0"/>
                    </a:cubicBezTo>
                    <a:close/>
                  </a:path>
                </a:pathLst>
              </a:custGeom>
              <a:blipFill>
                <a:blip r:embed="rId2"/>
                <a:stretch>
                  <a:fillRect l="-3255" r="-3255"/>
                </a:stretch>
              </a:blipFill>
              <a:ln w="38100" cap="sq">
                <a:solidFill>
                  <a:srgbClr val="000000"/>
                </a:solidFill>
                <a:prstDash val="solid"/>
                <a:miter/>
              </a:ln>
            </p:spPr>
          </p:sp>
        </p:grpSp>
      </p:grpSp>
      <p:sp>
        <p:nvSpPr>
          <p:cNvPr id="14" name="Freeform 14"/>
          <p:cNvSpPr/>
          <p:nvPr/>
        </p:nvSpPr>
        <p:spPr>
          <a:xfrm>
            <a:off x="1028700" y="877721"/>
            <a:ext cx="9433452" cy="2966973"/>
          </a:xfrm>
          <a:custGeom>
            <a:avLst/>
            <a:gdLst/>
            <a:ahLst/>
            <a:cxnLst/>
            <a:rect l="l" t="t" r="r" b="b"/>
            <a:pathLst>
              <a:path w="9433452" h="2966973">
                <a:moveTo>
                  <a:pt x="0" y="0"/>
                </a:moveTo>
                <a:lnTo>
                  <a:pt x="9433452" y="0"/>
                </a:lnTo>
                <a:lnTo>
                  <a:pt x="9433452" y="2966973"/>
                </a:lnTo>
                <a:lnTo>
                  <a:pt x="0" y="2966973"/>
                </a:lnTo>
                <a:lnTo>
                  <a:pt x="0" y="0"/>
                </a:lnTo>
                <a:close/>
              </a:path>
            </a:pathLst>
          </a:custGeom>
          <a:blipFill>
            <a:blip r:embed="rId3"/>
            <a:stretch>
              <a:fillRect/>
            </a:stretch>
          </a:blipFill>
          <a:ln w="38100" cap="sq">
            <a:solidFill>
              <a:srgbClr val="000000"/>
            </a:solidFill>
            <a:prstDash val="solid"/>
            <a:miter/>
          </a:ln>
        </p:spPr>
      </p:sp>
      <p:sp>
        <p:nvSpPr>
          <p:cNvPr id="15" name="TextBox 15"/>
          <p:cNvSpPr txBox="1"/>
          <p:nvPr/>
        </p:nvSpPr>
        <p:spPr>
          <a:xfrm>
            <a:off x="1314014" y="4394096"/>
            <a:ext cx="9342861" cy="4697428"/>
          </a:xfrm>
          <a:prstGeom prst="rect">
            <a:avLst/>
          </a:prstGeom>
        </p:spPr>
        <p:txBody>
          <a:bodyPr lIns="0" tIns="0" rIns="0" bIns="0" rtlCol="0" anchor="t">
            <a:spAutoFit/>
          </a:bodyPr>
          <a:lstStyle/>
          <a:p>
            <a:pPr marL="391190" lvl="1" indent="-195595" algn="l">
              <a:lnSpc>
                <a:spcPts val="2536"/>
              </a:lnSpc>
              <a:buFont typeface="Arial"/>
              <a:buChar char="•"/>
            </a:pPr>
            <a:r>
              <a:rPr lang="en-US" sz="1811">
                <a:solidFill>
                  <a:srgbClr val="000000"/>
                </a:solidFill>
                <a:latin typeface="Canva Sans"/>
                <a:ea typeface="Canva Sans"/>
                <a:cs typeface="Canva Sans"/>
                <a:sym typeface="Canva Sans"/>
              </a:rPr>
              <a:t>Researchers investigating renewable energy use in Africa's five most populous nations (1996-2016) discovered several key drivers. Using methods designed to handle uncertainty across different models, they found that increases in population (both total and urban), overall energy and electricity use, and human capital development all contributed positively to higher renewable energy consumption. </a:t>
            </a:r>
          </a:p>
          <a:p>
            <a:pPr algn="l">
              <a:lnSpc>
                <a:spcPts val="2536"/>
              </a:lnSpc>
            </a:pPr>
            <a:endParaRPr lang="en-US" sz="1811">
              <a:solidFill>
                <a:srgbClr val="000000"/>
              </a:solidFill>
              <a:latin typeface="Canva Sans"/>
              <a:ea typeface="Canva Sans"/>
              <a:cs typeface="Canva Sans"/>
              <a:sym typeface="Canva Sans"/>
            </a:endParaRPr>
          </a:p>
          <a:p>
            <a:pPr marL="391190" lvl="1" indent="-195595" algn="l">
              <a:lnSpc>
                <a:spcPts val="2536"/>
              </a:lnSpc>
              <a:buFont typeface="Arial"/>
              <a:buChar char="•"/>
            </a:pPr>
            <a:r>
              <a:rPr lang="en-US" sz="1811">
                <a:solidFill>
                  <a:srgbClr val="000000"/>
                </a:solidFill>
                <a:latin typeface="Canva Sans"/>
                <a:ea typeface="Canva Sans"/>
                <a:cs typeface="Canva Sans"/>
                <a:sym typeface="Canva Sans"/>
              </a:rPr>
              <a:t>The very idea of powering societies entirely with renewables gained traction in the late 1990s, spurred by studies showing its feasibility in Europe and North Africa. However, what drives renewable energy adoption isn't universal; studies show factors like foreign investment and trade openness were important in China, while specific government policies sometimes hindered it elsewhere. </a:t>
            </a:r>
          </a:p>
          <a:p>
            <a:pPr algn="l">
              <a:lnSpc>
                <a:spcPts val="2536"/>
              </a:lnSpc>
            </a:pPr>
            <a:endParaRPr lang="en-US" sz="1811">
              <a:solidFill>
                <a:srgbClr val="000000"/>
              </a:solidFill>
              <a:latin typeface="Canva Sans"/>
              <a:ea typeface="Canva Sans"/>
              <a:cs typeface="Canva Sans"/>
              <a:sym typeface="Canva Sans"/>
            </a:endParaRPr>
          </a:p>
          <a:p>
            <a:pPr marL="391190" lvl="1" indent="-195595" algn="l">
              <a:lnSpc>
                <a:spcPts val="2536"/>
              </a:lnSpc>
              <a:buFont typeface="Arial"/>
              <a:buChar char="•"/>
            </a:pPr>
            <a:r>
              <a:rPr lang="en-US" sz="1811">
                <a:solidFill>
                  <a:srgbClr val="000000"/>
                </a:solidFill>
                <a:latin typeface="Canva Sans"/>
                <a:ea typeface="Canva Sans"/>
                <a:cs typeface="Canva Sans"/>
                <a:sym typeface="Canva Sans"/>
              </a:rPr>
              <a:t>Globally, CO2 emissions and trade have been identified as significant factors, though economic growth showed a negative link to renewables in the Balkans.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42372" y="540741"/>
            <a:ext cx="17003256" cy="9205519"/>
            <a:chOff x="0" y="0"/>
            <a:chExt cx="4478224" cy="2424499"/>
          </a:xfrm>
        </p:grpSpPr>
        <p:sp>
          <p:nvSpPr>
            <p:cNvPr id="3" name="Freeform 3"/>
            <p:cNvSpPr/>
            <p:nvPr/>
          </p:nvSpPr>
          <p:spPr>
            <a:xfrm>
              <a:off x="0" y="0"/>
              <a:ext cx="4478224" cy="2424499"/>
            </a:xfrm>
            <a:custGeom>
              <a:avLst/>
              <a:gdLst/>
              <a:ahLst/>
              <a:cxnLst/>
              <a:rect l="l" t="t" r="r" b="b"/>
              <a:pathLst>
                <a:path w="4478224" h="2424499">
                  <a:moveTo>
                    <a:pt x="23221" y="0"/>
                  </a:moveTo>
                  <a:lnTo>
                    <a:pt x="4455002" y="0"/>
                  </a:lnTo>
                  <a:cubicBezTo>
                    <a:pt x="4467827" y="0"/>
                    <a:pt x="4478224" y="10397"/>
                    <a:pt x="4478224" y="23221"/>
                  </a:cubicBezTo>
                  <a:lnTo>
                    <a:pt x="4478224" y="2401277"/>
                  </a:lnTo>
                  <a:cubicBezTo>
                    <a:pt x="4478224" y="2414102"/>
                    <a:pt x="4467827" y="2424499"/>
                    <a:pt x="4455002" y="2424499"/>
                  </a:cubicBezTo>
                  <a:lnTo>
                    <a:pt x="23221" y="2424499"/>
                  </a:lnTo>
                  <a:cubicBezTo>
                    <a:pt x="10397" y="2424499"/>
                    <a:pt x="0" y="2414102"/>
                    <a:pt x="0" y="2401277"/>
                  </a:cubicBezTo>
                  <a:lnTo>
                    <a:pt x="0" y="23221"/>
                  </a:lnTo>
                  <a:cubicBezTo>
                    <a:pt x="0" y="10397"/>
                    <a:pt x="10397" y="0"/>
                    <a:pt x="23221" y="0"/>
                  </a:cubicBezTo>
                  <a:close/>
                </a:path>
              </a:pathLst>
            </a:custGeom>
            <a:solidFill>
              <a:srgbClr val="000000">
                <a:alpha val="0"/>
              </a:srgbClr>
            </a:solidFill>
            <a:ln w="38100" cap="rnd">
              <a:solidFill>
                <a:srgbClr val="000000"/>
              </a:solidFill>
              <a:prstDash val="solid"/>
              <a:round/>
            </a:ln>
          </p:spPr>
        </p:sp>
        <p:sp>
          <p:nvSpPr>
            <p:cNvPr id="4" name="TextBox 4"/>
            <p:cNvSpPr txBox="1"/>
            <p:nvPr/>
          </p:nvSpPr>
          <p:spPr>
            <a:xfrm>
              <a:off x="0" y="-38100"/>
              <a:ext cx="4478224" cy="2462599"/>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841089" y="4188269"/>
            <a:ext cx="10001713" cy="5406087"/>
            <a:chOff x="0" y="0"/>
            <a:chExt cx="2634196" cy="1423825"/>
          </a:xfrm>
        </p:grpSpPr>
        <p:sp>
          <p:nvSpPr>
            <p:cNvPr id="6" name="Freeform 6"/>
            <p:cNvSpPr/>
            <p:nvPr/>
          </p:nvSpPr>
          <p:spPr>
            <a:xfrm>
              <a:off x="0" y="0"/>
              <a:ext cx="2634196" cy="1423825"/>
            </a:xfrm>
            <a:custGeom>
              <a:avLst/>
              <a:gdLst/>
              <a:ahLst/>
              <a:cxnLst/>
              <a:rect l="l" t="t" r="r" b="b"/>
              <a:pathLst>
                <a:path w="2634196" h="1423825">
                  <a:moveTo>
                    <a:pt x="39477" y="0"/>
                  </a:moveTo>
                  <a:lnTo>
                    <a:pt x="2594719" y="0"/>
                  </a:lnTo>
                  <a:cubicBezTo>
                    <a:pt x="2605189" y="0"/>
                    <a:pt x="2615230" y="4159"/>
                    <a:pt x="2622634" y="11563"/>
                  </a:cubicBezTo>
                  <a:cubicBezTo>
                    <a:pt x="2630037" y="18966"/>
                    <a:pt x="2634196" y="29007"/>
                    <a:pt x="2634196" y="39477"/>
                  </a:cubicBezTo>
                  <a:lnTo>
                    <a:pt x="2634196" y="1384348"/>
                  </a:lnTo>
                  <a:cubicBezTo>
                    <a:pt x="2634196" y="1394818"/>
                    <a:pt x="2630037" y="1404860"/>
                    <a:pt x="2622634" y="1412263"/>
                  </a:cubicBezTo>
                  <a:cubicBezTo>
                    <a:pt x="2615230" y="1419666"/>
                    <a:pt x="2605189" y="1423825"/>
                    <a:pt x="2594719" y="1423825"/>
                  </a:cubicBezTo>
                  <a:lnTo>
                    <a:pt x="39477" y="1423825"/>
                  </a:lnTo>
                  <a:cubicBezTo>
                    <a:pt x="29007" y="1423825"/>
                    <a:pt x="18966" y="1419666"/>
                    <a:pt x="11563" y="1412263"/>
                  </a:cubicBezTo>
                  <a:cubicBezTo>
                    <a:pt x="4159" y="1404860"/>
                    <a:pt x="0" y="1394818"/>
                    <a:pt x="0" y="1384348"/>
                  </a:cubicBezTo>
                  <a:lnTo>
                    <a:pt x="0" y="39477"/>
                  </a:lnTo>
                  <a:cubicBezTo>
                    <a:pt x="0" y="29007"/>
                    <a:pt x="4159" y="18966"/>
                    <a:pt x="11563" y="11563"/>
                  </a:cubicBezTo>
                  <a:cubicBezTo>
                    <a:pt x="18966" y="4159"/>
                    <a:pt x="29007" y="0"/>
                    <a:pt x="39477" y="0"/>
                  </a:cubicBezTo>
                  <a:close/>
                </a:path>
              </a:pathLst>
            </a:custGeom>
            <a:solidFill>
              <a:srgbClr val="0CC0DF"/>
            </a:solidFill>
          </p:spPr>
        </p:sp>
        <p:sp>
          <p:nvSpPr>
            <p:cNvPr id="7" name="TextBox 7"/>
            <p:cNvSpPr txBox="1"/>
            <p:nvPr/>
          </p:nvSpPr>
          <p:spPr>
            <a:xfrm>
              <a:off x="0" y="-38100"/>
              <a:ext cx="2634196" cy="146192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1030413" y="2333280"/>
            <a:ext cx="6228887" cy="5620440"/>
            <a:chOff x="0" y="0"/>
            <a:chExt cx="8305182" cy="7493920"/>
          </a:xfrm>
        </p:grpSpPr>
        <p:grpSp>
          <p:nvGrpSpPr>
            <p:cNvPr id="9" name="Group 9"/>
            <p:cNvGrpSpPr/>
            <p:nvPr/>
          </p:nvGrpSpPr>
          <p:grpSpPr>
            <a:xfrm>
              <a:off x="0" y="0"/>
              <a:ext cx="8305182" cy="7493920"/>
              <a:chOff x="0" y="0"/>
              <a:chExt cx="1742279" cy="1572090"/>
            </a:xfrm>
          </p:grpSpPr>
          <p:sp>
            <p:nvSpPr>
              <p:cNvPr id="10" name="Freeform 10"/>
              <p:cNvSpPr/>
              <p:nvPr/>
            </p:nvSpPr>
            <p:spPr>
              <a:xfrm>
                <a:off x="0" y="0"/>
                <a:ext cx="1742279" cy="1572090"/>
              </a:xfrm>
              <a:custGeom>
                <a:avLst/>
                <a:gdLst/>
                <a:ahLst/>
                <a:cxnLst/>
                <a:rect l="l" t="t" r="r" b="b"/>
                <a:pathLst>
                  <a:path w="1742279" h="1572090">
                    <a:moveTo>
                      <a:pt x="59686" y="0"/>
                    </a:moveTo>
                    <a:lnTo>
                      <a:pt x="1682592" y="0"/>
                    </a:lnTo>
                    <a:cubicBezTo>
                      <a:pt x="1715556" y="0"/>
                      <a:pt x="1742279" y="26722"/>
                      <a:pt x="1742279" y="59686"/>
                    </a:cubicBezTo>
                    <a:lnTo>
                      <a:pt x="1742279" y="1512404"/>
                    </a:lnTo>
                    <a:cubicBezTo>
                      <a:pt x="1742279" y="1545368"/>
                      <a:pt x="1715556" y="1572090"/>
                      <a:pt x="1682592" y="1572090"/>
                    </a:cubicBezTo>
                    <a:lnTo>
                      <a:pt x="59686" y="1572090"/>
                    </a:lnTo>
                    <a:cubicBezTo>
                      <a:pt x="26722" y="1572090"/>
                      <a:pt x="0" y="1545368"/>
                      <a:pt x="0" y="1512404"/>
                    </a:cubicBezTo>
                    <a:lnTo>
                      <a:pt x="0" y="59686"/>
                    </a:lnTo>
                    <a:cubicBezTo>
                      <a:pt x="0" y="26722"/>
                      <a:pt x="26722" y="0"/>
                      <a:pt x="59686" y="0"/>
                    </a:cubicBezTo>
                    <a:close/>
                  </a:path>
                </a:pathLst>
              </a:custGeom>
              <a:solidFill>
                <a:srgbClr val="FFBD59"/>
              </a:solidFill>
              <a:ln w="38100" cap="rnd">
                <a:solidFill>
                  <a:srgbClr val="000000"/>
                </a:solidFill>
                <a:prstDash val="solid"/>
                <a:round/>
              </a:ln>
            </p:spPr>
          </p:sp>
          <p:sp>
            <p:nvSpPr>
              <p:cNvPr id="11" name="TextBox 11"/>
              <p:cNvSpPr txBox="1"/>
              <p:nvPr/>
            </p:nvSpPr>
            <p:spPr>
              <a:xfrm>
                <a:off x="0" y="-38100"/>
                <a:ext cx="1742279" cy="161019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525370" y="334473"/>
              <a:ext cx="7254441" cy="6824973"/>
              <a:chOff x="0" y="0"/>
              <a:chExt cx="895207" cy="842210"/>
            </a:xfrm>
          </p:grpSpPr>
          <p:sp>
            <p:nvSpPr>
              <p:cNvPr id="13" name="Freeform 13"/>
              <p:cNvSpPr/>
              <p:nvPr/>
            </p:nvSpPr>
            <p:spPr>
              <a:xfrm>
                <a:off x="0" y="0"/>
                <a:ext cx="895207" cy="842210"/>
              </a:xfrm>
              <a:custGeom>
                <a:avLst/>
                <a:gdLst/>
                <a:ahLst/>
                <a:cxnLst/>
                <a:rect l="l" t="t" r="r" b="b"/>
                <a:pathLst>
                  <a:path w="895207" h="842210">
                    <a:moveTo>
                      <a:pt x="24117" y="0"/>
                    </a:moveTo>
                    <a:lnTo>
                      <a:pt x="871090" y="0"/>
                    </a:lnTo>
                    <a:cubicBezTo>
                      <a:pt x="884410" y="0"/>
                      <a:pt x="895207" y="10798"/>
                      <a:pt x="895207" y="24117"/>
                    </a:cubicBezTo>
                    <a:lnTo>
                      <a:pt x="895207" y="818093"/>
                    </a:lnTo>
                    <a:cubicBezTo>
                      <a:pt x="895207" y="831413"/>
                      <a:pt x="884410" y="842210"/>
                      <a:pt x="871090" y="842210"/>
                    </a:cubicBezTo>
                    <a:lnTo>
                      <a:pt x="24117" y="842210"/>
                    </a:lnTo>
                    <a:cubicBezTo>
                      <a:pt x="10798" y="842210"/>
                      <a:pt x="0" y="831413"/>
                      <a:pt x="0" y="818093"/>
                    </a:cubicBezTo>
                    <a:lnTo>
                      <a:pt x="0" y="24117"/>
                    </a:lnTo>
                    <a:cubicBezTo>
                      <a:pt x="0" y="10798"/>
                      <a:pt x="10798" y="0"/>
                      <a:pt x="24117" y="0"/>
                    </a:cubicBezTo>
                    <a:close/>
                  </a:path>
                </a:pathLst>
              </a:custGeom>
              <a:blipFill>
                <a:blip r:embed="rId2"/>
                <a:stretch>
                  <a:fillRect r="-115518" b="-7696"/>
                </a:stretch>
              </a:blipFill>
            </p:spPr>
          </p:sp>
        </p:grpSp>
      </p:grpSp>
      <p:sp>
        <p:nvSpPr>
          <p:cNvPr id="14" name="Freeform 14"/>
          <p:cNvSpPr/>
          <p:nvPr/>
        </p:nvSpPr>
        <p:spPr>
          <a:xfrm>
            <a:off x="841089" y="724010"/>
            <a:ext cx="10001713" cy="3218540"/>
          </a:xfrm>
          <a:custGeom>
            <a:avLst/>
            <a:gdLst/>
            <a:ahLst/>
            <a:cxnLst/>
            <a:rect l="l" t="t" r="r" b="b"/>
            <a:pathLst>
              <a:path w="10001713" h="3218540">
                <a:moveTo>
                  <a:pt x="0" y="0"/>
                </a:moveTo>
                <a:lnTo>
                  <a:pt x="10001714" y="0"/>
                </a:lnTo>
                <a:lnTo>
                  <a:pt x="10001714" y="3218540"/>
                </a:lnTo>
                <a:lnTo>
                  <a:pt x="0" y="3218540"/>
                </a:lnTo>
                <a:lnTo>
                  <a:pt x="0" y="0"/>
                </a:lnTo>
                <a:close/>
              </a:path>
            </a:pathLst>
          </a:custGeom>
          <a:blipFill>
            <a:blip r:embed="rId3"/>
            <a:stretch>
              <a:fillRect t="-1948" b="-1948"/>
            </a:stretch>
          </a:blipFill>
          <a:ln w="38100" cap="sq">
            <a:solidFill>
              <a:srgbClr val="000000"/>
            </a:solidFill>
            <a:prstDash val="solid"/>
            <a:miter/>
          </a:ln>
        </p:spPr>
      </p:sp>
      <p:sp>
        <p:nvSpPr>
          <p:cNvPr id="15" name="TextBox 15"/>
          <p:cNvSpPr txBox="1"/>
          <p:nvPr/>
        </p:nvSpPr>
        <p:spPr>
          <a:xfrm>
            <a:off x="1090007" y="4149388"/>
            <a:ext cx="9572308" cy="5676265"/>
          </a:xfrm>
          <a:prstGeom prst="rect">
            <a:avLst/>
          </a:prstGeom>
        </p:spPr>
        <p:txBody>
          <a:bodyPr lIns="0" tIns="0" rIns="0" bIns="0" rtlCol="0" anchor="t">
            <a:spAutoFit/>
          </a:bodyPr>
          <a:lstStyle/>
          <a:p>
            <a:pPr marL="410209" lvl="1" indent="-205105" algn="l">
              <a:lnSpc>
                <a:spcPts val="2659"/>
              </a:lnSpc>
              <a:buFont typeface="Arial"/>
              <a:buChar char="•"/>
            </a:pPr>
            <a:r>
              <a:rPr lang="en-US" sz="1899">
                <a:solidFill>
                  <a:srgbClr val="000000"/>
                </a:solidFill>
                <a:latin typeface="Canva Sans"/>
                <a:ea typeface="Canva Sans"/>
                <a:cs typeface="Canva Sans"/>
                <a:sym typeface="Canva Sans"/>
              </a:rPr>
              <a:t>Examining how renewable energy, technology, and institutional reforms influence economic growth and inequality across Africa. The results painted a complex picture based on income levels. Renewable energy didn't significantly impact growth in middle-income countries but appeared detrimental in low-income nations. </a:t>
            </a:r>
          </a:p>
          <a:p>
            <a:pPr algn="l">
              <a:lnSpc>
                <a:spcPts val="2659"/>
              </a:lnSpc>
            </a:pPr>
            <a:endParaRPr lang="en-US" sz="1899">
              <a:solidFill>
                <a:srgbClr val="000000"/>
              </a:solidFill>
              <a:latin typeface="Canva Sans"/>
              <a:ea typeface="Canva Sans"/>
              <a:cs typeface="Canva Sans"/>
              <a:sym typeface="Canva Sans"/>
            </a:endParaRPr>
          </a:p>
          <a:p>
            <a:pPr marL="410209" lvl="1" indent="-205105" algn="l">
              <a:lnSpc>
                <a:spcPts val="2659"/>
              </a:lnSpc>
              <a:buFont typeface="Arial"/>
              <a:buChar char="•"/>
            </a:pPr>
            <a:r>
              <a:rPr lang="en-US" sz="1899">
                <a:solidFill>
                  <a:srgbClr val="000000"/>
                </a:solidFill>
                <a:latin typeface="Canva Sans"/>
                <a:ea typeface="Canva Sans"/>
                <a:cs typeface="Canva Sans"/>
                <a:sym typeface="Canva Sans"/>
              </a:rPr>
              <a:t>Technology, however, primarily benefited the upper and middle-income groups, while the effect of institutional quality varied across different income brackets. Earlier work suggested renewables could boost economies by creating jobs and replacing costly energy imports, with many studies confirming positive effects, especially in developing countries.</a:t>
            </a:r>
          </a:p>
          <a:p>
            <a:pPr marL="410209" lvl="1" indent="-205105" algn="l">
              <a:lnSpc>
                <a:spcPts val="2659"/>
              </a:lnSpc>
              <a:buFont typeface="Arial"/>
              <a:buChar char="•"/>
            </a:pPr>
            <a:r>
              <a:rPr lang="en-US" sz="1899">
                <a:solidFill>
                  <a:srgbClr val="000000"/>
                </a:solidFill>
                <a:latin typeface="Canva Sans"/>
                <a:ea typeface="Canva Sans"/>
                <a:cs typeface="Canva Sans"/>
                <a:sym typeface="Canva Sans"/>
              </a:rPr>
              <a:t>The relationship between energy use and economic growth isn't straightforward either, varying by region – some show mutual dependence (Eurasia, Pakistan, MENA), while others find weak or even negative links (Turkey). Technology, particularly ICT, consistently emerges as a growth engine, often having a stronger effect in poorer nations.</a:t>
            </a:r>
          </a:p>
          <a:p>
            <a:pPr algn="l">
              <a:lnSpc>
                <a:spcPts val="2659"/>
              </a:lnSpc>
            </a:pPr>
            <a:endParaRPr lang="en-US" sz="1899">
              <a:solidFill>
                <a:srgbClr val="000000"/>
              </a:solidFill>
              <a:latin typeface="Canva Sans"/>
              <a:ea typeface="Canva Sans"/>
              <a:cs typeface="Canva Sans"/>
              <a:sym typeface="Canv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42372" y="540741"/>
            <a:ext cx="17003256" cy="9205519"/>
            <a:chOff x="0" y="0"/>
            <a:chExt cx="4478224" cy="2424499"/>
          </a:xfrm>
        </p:grpSpPr>
        <p:sp>
          <p:nvSpPr>
            <p:cNvPr id="3" name="Freeform 3"/>
            <p:cNvSpPr/>
            <p:nvPr/>
          </p:nvSpPr>
          <p:spPr>
            <a:xfrm>
              <a:off x="0" y="0"/>
              <a:ext cx="4478224" cy="2424499"/>
            </a:xfrm>
            <a:custGeom>
              <a:avLst/>
              <a:gdLst/>
              <a:ahLst/>
              <a:cxnLst/>
              <a:rect l="l" t="t" r="r" b="b"/>
              <a:pathLst>
                <a:path w="4478224" h="2424499">
                  <a:moveTo>
                    <a:pt x="23221" y="0"/>
                  </a:moveTo>
                  <a:lnTo>
                    <a:pt x="4455002" y="0"/>
                  </a:lnTo>
                  <a:cubicBezTo>
                    <a:pt x="4467827" y="0"/>
                    <a:pt x="4478224" y="10397"/>
                    <a:pt x="4478224" y="23221"/>
                  </a:cubicBezTo>
                  <a:lnTo>
                    <a:pt x="4478224" y="2401277"/>
                  </a:lnTo>
                  <a:cubicBezTo>
                    <a:pt x="4478224" y="2414102"/>
                    <a:pt x="4467827" y="2424499"/>
                    <a:pt x="4455002" y="2424499"/>
                  </a:cubicBezTo>
                  <a:lnTo>
                    <a:pt x="23221" y="2424499"/>
                  </a:lnTo>
                  <a:cubicBezTo>
                    <a:pt x="10397" y="2424499"/>
                    <a:pt x="0" y="2414102"/>
                    <a:pt x="0" y="2401277"/>
                  </a:cubicBezTo>
                  <a:lnTo>
                    <a:pt x="0" y="23221"/>
                  </a:lnTo>
                  <a:cubicBezTo>
                    <a:pt x="0" y="10397"/>
                    <a:pt x="10397" y="0"/>
                    <a:pt x="23221" y="0"/>
                  </a:cubicBezTo>
                  <a:close/>
                </a:path>
              </a:pathLst>
            </a:custGeom>
            <a:solidFill>
              <a:srgbClr val="000000">
                <a:alpha val="0"/>
              </a:srgbClr>
            </a:solidFill>
            <a:ln w="38100" cap="rnd">
              <a:solidFill>
                <a:srgbClr val="000000"/>
              </a:solidFill>
              <a:prstDash val="solid"/>
              <a:round/>
            </a:ln>
          </p:spPr>
        </p:sp>
        <p:sp>
          <p:nvSpPr>
            <p:cNvPr id="4" name="TextBox 4"/>
            <p:cNvSpPr txBox="1"/>
            <p:nvPr/>
          </p:nvSpPr>
          <p:spPr>
            <a:xfrm>
              <a:off x="0" y="-38100"/>
              <a:ext cx="4478224" cy="2462599"/>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8700" y="3822096"/>
            <a:ext cx="10001713" cy="5562519"/>
            <a:chOff x="0" y="0"/>
            <a:chExt cx="2634196" cy="1465026"/>
          </a:xfrm>
        </p:grpSpPr>
        <p:sp>
          <p:nvSpPr>
            <p:cNvPr id="6" name="Freeform 6"/>
            <p:cNvSpPr/>
            <p:nvPr/>
          </p:nvSpPr>
          <p:spPr>
            <a:xfrm>
              <a:off x="0" y="0"/>
              <a:ext cx="2634196" cy="1465026"/>
            </a:xfrm>
            <a:custGeom>
              <a:avLst/>
              <a:gdLst/>
              <a:ahLst/>
              <a:cxnLst/>
              <a:rect l="l" t="t" r="r" b="b"/>
              <a:pathLst>
                <a:path w="2634196" h="1465026">
                  <a:moveTo>
                    <a:pt x="39477" y="0"/>
                  </a:moveTo>
                  <a:lnTo>
                    <a:pt x="2594719" y="0"/>
                  </a:lnTo>
                  <a:cubicBezTo>
                    <a:pt x="2605189" y="0"/>
                    <a:pt x="2615230" y="4159"/>
                    <a:pt x="2622634" y="11563"/>
                  </a:cubicBezTo>
                  <a:cubicBezTo>
                    <a:pt x="2630037" y="18966"/>
                    <a:pt x="2634196" y="29007"/>
                    <a:pt x="2634196" y="39477"/>
                  </a:cubicBezTo>
                  <a:lnTo>
                    <a:pt x="2634196" y="1425549"/>
                  </a:lnTo>
                  <a:cubicBezTo>
                    <a:pt x="2634196" y="1436019"/>
                    <a:pt x="2630037" y="1446060"/>
                    <a:pt x="2622634" y="1453463"/>
                  </a:cubicBezTo>
                  <a:cubicBezTo>
                    <a:pt x="2615230" y="1460866"/>
                    <a:pt x="2605189" y="1465026"/>
                    <a:pt x="2594719" y="1465026"/>
                  </a:cubicBezTo>
                  <a:lnTo>
                    <a:pt x="39477" y="1465026"/>
                  </a:lnTo>
                  <a:cubicBezTo>
                    <a:pt x="29007" y="1465026"/>
                    <a:pt x="18966" y="1460866"/>
                    <a:pt x="11563" y="1453463"/>
                  </a:cubicBezTo>
                  <a:cubicBezTo>
                    <a:pt x="4159" y="1446060"/>
                    <a:pt x="0" y="1436019"/>
                    <a:pt x="0" y="1425549"/>
                  </a:cubicBezTo>
                  <a:lnTo>
                    <a:pt x="0" y="39477"/>
                  </a:lnTo>
                  <a:cubicBezTo>
                    <a:pt x="0" y="29007"/>
                    <a:pt x="4159" y="18966"/>
                    <a:pt x="11563" y="11563"/>
                  </a:cubicBezTo>
                  <a:cubicBezTo>
                    <a:pt x="18966" y="4159"/>
                    <a:pt x="29007" y="0"/>
                    <a:pt x="39477" y="0"/>
                  </a:cubicBezTo>
                  <a:close/>
                </a:path>
              </a:pathLst>
            </a:custGeom>
            <a:solidFill>
              <a:srgbClr val="0CC0DF"/>
            </a:solidFill>
          </p:spPr>
        </p:sp>
        <p:sp>
          <p:nvSpPr>
            <p:cNvPr id="7" name="TextBox 7"/>
            <p:cNvSpPr txBox="1"/>
            <p:nvPr/>
          </p:nvSpPr>
          <p:spPr>
            <a:xfrm>
              <a:off x="0" y="-38100"/>
              <a:ext cx="2634196" cy="1503126"/>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1264137" y="2546479"/>
            <a:ext cx="6212044" cy="5730855"/>
            <a:chOff x="0" y="0"/>
            <a:chExt cx="1636094" cy="1509361"/>
          </a:xfrm>
        </p:grpSpPr>
        <p:sp>
          <p:nvSpPr>
            <p:cNvPr id="9" name="Freeform 9"/>
            <p:cNvSpPr/>
            <p:nvPr/>
          </p:nvSpPr>
          <p:spPr>
            <a:xfrm>
              <a:off x="0" y="0"/>
              <a:ext cx="1636094" cy="1509361"/>
            </a:xfrm>
            <a:custGeom>
              <a:avLst/>
              <a:gdLst/>
              <a:ahLst/>
              <a:cxnLst/>
              <a:rect l="l" t="t" r="r" b="b"/>
              <a:pathLst>
                <a:path w="1636094" h="1509361">
                  <a:moveTo>
                    <a:pt x="63560" y="0"/>
                  </a:moveTo>
                  <a:lnTo>
                    <a:pt x="1572534" y="0"/>
                  </a:lnTo>
                  <a:cubicBezTo>
                    <a:pt x="1607637" y="0"/>
                    <a:pt x="1636094" y="28457"/>
                    <a:pt x="1636094" y="63560"/>
                  </a:cubicBezTo>
                  <a:lnTo>
                    <a:pt x="1636094" y="1445801"/>
                  </a:lnTo>
                  <a:cubicBezTo>
                    <a:pt x="1636094" y="1480904"/>
                    <a:pt x="1607637" y="1509361"/>
                    <a:pt x="1572534" y="1509361"/>
                  </a:cubicBezTo>
                  <a:lnTo>
                    <a:pt x="63560" y="1509361"/>
                  </a:lnTo>
                  <a:cubicBezTo>
                    <a:pt x="28457" y="1509361"/>
                    <a:pt x="0" y="1480904"/>
                    <a:pt x="0" y="1445801"/>
                  </a:cubicBezTo>
                  <a:lnTo>
                    <a:pt x="0" y="63560"/>
                  </a:lnTo>
                  <a:cubicBezTo>
                    <a:pt x="0" y="28457"/>
                    <a:pt x="28457" y="0"/>
                    <a:pt x="63560" y="0"/>
                  </a:cubicBezTo>
                  <a:close/>
                </a:path>
              </a:pathLst>
            </a:custGeom>
            <a:solidFill>
              <a:srgbClr val="FFBD59"/>
            </a:solidFill>
            <a:ln w="38100" cap="rnd">
              <a:solidFill>
                <a:srgbClr val="000000"/>
              </a:solidFill>
              <a:prstDash val="solid"/>
              <a:round/>
            </a:ln>
          </p:spPr>
        </p:sp>
        <p:sp>
          <p:nvSpPr>
            <p:cNvPr id="10" name="TextBox 10"/>
            <p:cNvSpPr txBox="1"/>
            <p:nvPr/>
          </p:nvSpPr>
          <p:spPr>
            <a:xfrm>
              <a:off x="0" y="-38100"/>
              <a:ext cx="1636094" cy="1547461"/>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1481018" y="2693805"/>
            <a:ext cx="5778282" cy="5436204"/>
            <a:chOff x="0" y="0"/>
            <a:chExt cx="895207" cy="842210"/>
          </a:xfrm>
        </p:grpSpPr>
        <p:sp>
          <p:nvSpPr>
            <p:cNvPr id="12" name="Freeform 12"/>
            <p:cNvSpPr/>
            <p:nvPr/>
          </p:nvSpPr>
          <p:spPr>
            <a:xfrm>
              <a:off x="0" y="0"/>
              <a:ext cx="895207" cy="842210"/>
            </a:xfrm>
            <a:custGeom>
              <a:avLst/>
              <a:gdLst/>
              <a:ahLst/>
              <a:cxnLst/>
              <a:rect l="l" t="t" r="r" b="b"/>
              <a:pathLst>
                <a:path w="895207" h="842210">
                  <a:moveTo>
                    <a:pt x="73691" y="0"/>
                  </a:moveTo>
                  <a:lnTo>
                    <a:pt x="821516" y="0"/>
                  </a:lnTo>
                  <a:cubicBezTo>
                    <a:pt x="862215" y="0"/>
                    <a:pt x="895207" y="32992"/>
                    <a:pt x="895207" y="73691"/>
                  </a:cubicBezTo>
                  <a:lnTo>
                    <a:pt x="895207" y="768520"/>
                  </a:lnTo>
                  <a:cubicBezTo>
                    <a:pt x="895207" y="788064"/>
                    <a:pt x="887443" y="806807"/>
                    <a:pt x="873624" y="820627"/>
                  </a:cubicBezTo>
                  <a:cubicBezTo>
                    <a:pt x="859804" y="834446"/>
                    <a:pt x="841060" y="842210"/>
                    <a:pt x="821516" y="842210"/>
                  </a:cubicBezTo>
                  <a:lnTo>
                    <a:pt x="73691" y="842210"/>
                  </a:lnTo>
                  <a:cubicBezTo>
                    <a:pt x="54147" y="842210"/>
                    <a:pt x="35403" y="834446"/>
                    <a:pt x="21584" y="820627"/>
                  </a:cubicBezTo>
                  <a:cubicBezTo>
                    <a:pt x="7764" y="806807"/>
                    <a:pt x="0" y="788064"/>
                    <a:pt x="0" y="768520"/>
                  </a:cubicBezTo>
                  <a:lnTo>
                    <a:pt x="0" y="73691"/>
                  </a:lnTo>
                  <a:cubicBezTo>
                    <a:pt x="0" y="54147"/>
                    <a:pt x="7764" y="35403"/>
                    <a:pt x="21584" y="21584"/>
                  </a:cubicBezTo>
                  <a:cubicBezTo>
                    <a:pt x="35403" y="7764"/>
                    <a:pt x="54147" y="0"/>
                    <a:pt x="73691" y="0"/>
                  </a:cubicBezTo>
                  <a:close/>
                </a:path>
              </a:pathLst>
            </a:custGeom>
            <a:blipFill>
              <a:blip r:embed="rId2"/>
              <a:stretch>
                <a:fillRect t="-166" b="-166"/>
              </a:stretch>
            </a:blipFill>
          </p:spPr>
        </p:sp>
      </p:grpSp>
      <p:sp>
        <p:nvSpPr>
          <p:cNvPr id="13" name="Freeform 13"/>
          <p:cNvSpPr/>
          <p:nvPr/>
        </p:nvSpPr>
        <p:spPr>
          <a:xfrm>
            <a:off x="1028700" y="860364"/>
            <a:ext cx="10194587" cy="2793396"/>
          </a:xfrm>
          <a:custGeom>
            <a:avLst/>
            <a:gdLst/>
            <a:ahLst/>
            <a:cxnLst/>
            <a:rect l="l" t="t" r="r" b="b"/>
            <a:pathLst>
              <a:path w="10194587" h="2793396">
                <a:moveTo>
                  <a:pt x="0" y="0"/>
                </a:moveTo>
                <a:lnTo>
                  <a:pt x="10194587" y="0"/>
                </a:lnTo>
                <a:lnTo>
                  <a:pt x="10194587" y="2793396"/>
                </a:lnTo>
                <a:lnTo>
                  <a:pt x="0" y="2793396"/>
                </a:lnTo>
                <a:lnTo>
                  <a:pt x="0" y="0"/>
                </a:lnTo>
                <a:close/>
              </a:path>
            </a:pathLst>
          </a:custGeom>
          <a:blipFill>
            <a:blip r:embed="rId3"/>
            <a:stretch>
              <a:fillRect b="-31027"/>
            </a:stretch>
          </a:blipFill>
          <a:ln w="38100" cap="sq">
            <a:solidFill>
              <a:srgbClr val="000000"/>
            </a:solidFill>
            <a:prstDash val="solid"/>
            <a:miter/>
          </a:ln>
        </p:spPr>
      </p:sp>
      <p:sp>
        <p:nvSpPr>
          <p:cNvPr id="14" name="TextBox 14"/>
          <p:cNvSpPr txBox="1"/>
          <p:nvPr/>
        </p:nvSpPr>
        <p:spPr>
          <a:xfrm>
            <a:off x="1028700" y="4086154"/>
            <a:ext cx="9742048" cy="5172146"/>
          </a:xfrm>
          <a:prstGeom prst="rect">
            <a:avLst/>
          </a:prstGeom>
        </p:spPr>
        <p:txBody>
          <a:bodyPr lIns="0" tIns="0" rIns="0" bIns="0" rtlCol="0" anchor="t">
            <a:spAutoFit/>
          </a:bodyPr>
          <a:lstStyle/>
          <a:p>
            <a:pPr marL="404212" lvl="1" indent="-202106" algn="l">
              <a:lnSpc>
                <a:spcPts val="2621"/>
              </a:lnSpc>
              <a:buFont typeface="Arial"/>
              <a:buChar char="•"/>
            </a:pPr>
            <a:r>
              <a:rPr lang="en-US" sz="1872">
                <a:solidFill>
                  <a:srgbClr val="000000"/>
                </a:solidFill>
                <a:latin typeface="Canva Sans"/>
                <a:ea typeface="Canva Sans"/>
                <a:cs typeface="Canva Sans"/>
                <a:sym typeface="Canva Sans"/>
              </a:rPr>
              <a:t>Focusing specifically on Sub-Saharan Africa (1990-2020), one analysis explored how institutions shape the link between renewable energy and economic growth. It confirmed positive roles for both renewables and institutions in driving growth. Interestingly, while institutions generally helped the economy, stronger institutional quality seemed to weaken the positive impact of renewable energy on growth, suggesting that well-resourced institutions with contingency plans are vital for managing the energy transition effectively. </a:t>
            </a:r>
          </a:p>
          <a:p>
            <a:pPr algn="l">
              <a:lnSpc>
                <a:spcPts val="2621"/>
              </a:lnSpc>
            </a:pPr>
            <a:endParaRPr lang="en-US" sz="1872">
              <a:solidFill>
                <a:srgbClr val="000000"/>
              </a:solidFill>
              <a:latin typeface="Canva Sans"/>
              <a:ea typeface="Canva Sans"/>
              <a:cs typeface="Canva Sans"/>
              <a:sym typeface="Canva Sans"/>
            </a:endParaRPr>
          </a:p>
          <a:p>
            <a:pPr marL="404212" lvl="1" indent="-202106" algn="l">
              <a:lnSpc>
                <a:spcPts val="2621"/>
              </a:lnSpc>
              <a:buFont typeface="Arial"/>
              <a:buChar char="•"/>
            </a:pPr>
            <a:r>
              <a:rPr lang="en-US" sz="1872">
                <a:solidFill>
                  <a:srgbClr val="000000"/>
                </a:solidFill>
                <a:latin typeface="Canva Sans"/>
                <a:ea typeface="Canva Sans"/>
                <a:cs typeface="Canva Sans"/>
                <a:sym typeface="Canva Sans"/>
              </a:rPr>
              <a:t>Population growth, in this context, had a negative moderating effect. Broader studies have confirmed that both renewable and non-renewable energy can fuel growth, and electricity access is particularly vital for development in many nations. How energy and growth influence each other varies widely: some countries show energy use following development (Peru), others show growth enabling energy conservation (Colombia, Thailand), some show a feedback loop (Greece, South Korea), while many African nations primarily show growth leading to conservation efforts.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316239" y="4005183"/>
            <a:ext cx="5943061" cy="5038281"/>
            <a:chOff x="0" y="0"/>
            <a:chExt cx="1565251" cy="1326955"/>
          </a:xfrm>
        </p:grpSpPr>
        <p:sp>
          <p:nvSpPr>
            <p:cNvPr id="3" name="Freeform 3"/>
            <p:cNvSpPr/>
            <p:nvPr/>
          </p:nvSpPr>
          <p:spPr>
            <a:xfrm>
              <a:off x="0" y="0"/>
              <a:ext cx="1565251" cy="1326955"/>
            </a:xfrm>
            <a:custGeom>
              <a:avLst/>
              <a:gdLst/>
              <a:ahLst/>
              <a:cxnLst/>
              <a:rect l="l" t="t" r="r" b="b"/>
              <a:pathLst>
                <a:path w="1565251" h="1326955">
                  <a:moveTo>
                    <a:pt x="66437" y="0"/>
                  </a:moveTo>
                  <a:lnTo>
                    <a:pt x="1498814" y="0"/>
                  </a:lnTo>
                  <a:cubicBezTo>
                    <a:pt x="1516434" y="0"/>
                    <a:pt x="1533332" y="7000"/>
                    <a:pt x="1545792" y="19459"/>
                  </a:cubicBezTo>
                  <a:cubicBezTo>
                    <a:pt x="1558251" y="31918"/>
                    <a:pt x="1565251" y="48817"/>
                    <a:pt x="1565251" y="66437"/>
                  </a:cubicBezTo>
                  <a:lnTo>
                    <a:pt x="1565251" y="1260518"/>
                  </a:lnTo>
                  <a:cubicBezTo>
                    <a:pt x="1565251" y="1278138"/>
                    <a:pt x="1558251" y="1295036"/>
                    <a:pt x="1545792" y="1307496"/>
                  </a:cubicBezTo>
                  <a:cubicBezTo>
                    <a:pt x="1533332" y="1319955"/>
                    <a:pt x="1516434" y="1326955"/>
                    <a:pt x="1498814" y="1326955"/>
                  </a:cubicBezTo>
                  <a:lnTo>
                    <a:pt x="66437" y="1326955"/>
                  </a:lnTo>
                  <a:cubicBezTo>
                    <a:pt x="48817" y="1326955"/>
                    <a:pt x="31918" y="1319955"/>
                    <a:pt x="19459" y="1307496"/>
                  </a:cubicBezTo>
                  <a:cubicBezTo>
                    <a:pt x="7000" y="1295036"/>
                    <a:pt x="0" y="1278138"/>
                    <a:pt x="0" y="1260518"/>
                  </a:cubicBezTo>
                  <a:lnTo>
                    <a:pt x="0" y="66437"/>
                  </a:lnTo>
                  <a:cubicBezTo>
                    <a:pt x="0" y="48817"/>
                    <a:pt x="7000" y="31918"/>
                    <a:pt x="19459" y="19459"/>
                  </a:cubicBezTo>
                  <a:cubicBezTo>
                    <a:pt x="31918" y="7000"/>
                    <a:pt x="48817" y="0"/>
                    <a:pt x="66437" y="0"/>
                  </a:cubicBezTo>
                  <a:close/>
                </a:path>
              </a:pathLst>
            </a:custGeom>
            <a:solidFill>
              <a:srgbClr val="FFBD59"/>
            </a:solidFill>
            <a:ln w="38100" cap="rnd">
              <a:solidFill>
                <a:srgbClr val="000000"/>
              </a:solidFill>
              <a:prstDash val="solid"/>
              <a:round/>
            </a:ln>
          </p:spPr>
        </p:sp>
        <p:sp>
          <p:nvSpPr>
            <p:cNvPr id="4" name="TextBox 4"/>
            <p:cNvSpPr txBox="1"/>
            <p:nvPr/>
          </p:nvSpPr>
          <p:spPr>
            <a:xfrm>
              <a:off x="0" y="-38100"/>
              <a:ext cx="1565251" cy="1365055"/>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642372" y="540741"/>
            <a:ext cx="17003256" cy="9205519"/>
            <a:chOff x="0" y="0"/>
            <a:chExt cx="4478224" cy="2424499"/>
          </a:xfrm>
        </p:grpSpPr>
        <p:sp>
          <p:nvSpPr>
            <p:cNvPr id="6" name="Freeform 6"/>
            <p:cNvSpPr/>
            <p:nvPr/>
          </p:nvSpPr>
          <p:spPr>
            <a:xfrm>
              <a:off x="0" y="0"/>
              <a:ext cx="4478224" cy="2424499"/>
            </a:xfrm>
            <a:custGeom>
              <a:avLst/>
              <a:gdLst/>
              <a:ahLst/>
              <a:cxnLst/>
              <a:rect l="l" t="t" r="r" b="b"/>
              <a:pathLst>
                <a:path w="4478224" h="2424499">
                  <a:moveTo>
                    <a:pt x="23221" y="0"/>
                  </a:moveTo>
                  <a:lnTo>
                    <a:pt x="4455002" y="0"/>
                  </a:lnTo>
                  <a:cubicBezTo>
                    <a:pt x="4467827" y="0"/>
                    <a:pt x="4478224" y="10397"/>
                    <a:pt x="4478224" y="23221"/>
                  </a:cubicBezTo>
                  <a:lnTo>
                    <a:pt x="4478224" y="2401277"/>
                  </a:lnTo>
                  <a:cubicBezTo>
                    <a:pt x="4478224" y="2414102"/>
                    <a:pt x="4467827" y="2424499"/>
                    <a:pt x="4455002" y="2424499"/>
                  </a:cubicBezTo>
                  <a:lnTo>
                    <a:pt x="23221" y="2424499"/>
                  </a:lnTo>
                  <a:cubicBezTo>
                    <a:pt x="10397" y="2424499"/>
                    <a:pt x="0" y="2414102"/>
                    <a:pt x="0" y="2401277"/>
                  </a:cubicBezTo>
                  <a:lnTo>
                    <a:pt x="0" y="23221"/>
                  </a:lnTo>
                  <a:cubicBezTo>
                    <a:pt x="0" y="10397"/>
                    <a:pt x="10397" y="0"/>
                    <a:pt x="23221" y="0"/>
                  </a:cubicBezTo>
                  <a:close/>
                </a:path>
              </a:pathLst>
            </a:custGeom>
            <a:solidFill>
              <a:srgbClr val="000000">
                <a:alpha val="0"/>
              </a:srgbClr>
            </a:solidFill>
            <a:ln w="38100" cap="rnd">
              <a:solidFill>
                <a:srgbClr val="000000"/>
              </a:solidFill>
              <a:prstDash val="solid"/>
              <a:round/>
            </a:ln>
          </p:spPr>
        </p:sp>
        <p:sp>
          <p:nvSpPr>
            <p:cNvPr id="7" name="TextBox 7"/>
            <p:cNvSpPr txBox="1"/>
            <p:nvPr/>
          </p:nvSpPr>
          <p:spPr>
            <a:xfrm>
              <a:off x="0" y="-38100"/>
              <a:ext cx="4478224" cy="2462599"/>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4188269"/>
            <a:ext cx="10001713" cy="5070031"/>
            <a:chOff x="0" y="0"/>
            <a:chExt cx="2634196" cy="1335317"/>
          </a:xfrm>
        </p:grpSpPr>
        <p:sp>
          <p:nvSpPr>
            <p:cNvPr id="9" name="Freeform 9"/>
            <p:cNvSpPr/>
            <p:nvPr/>
          </p:nvSpPr>
          <p:spPr>
            <a:xfrm>
              <a:off x="0" y="0"/>
              <a:ext cx="2634196" cy="1335317"/>
            </a:xfrm>
            <a:custGeom>
              <a:avLst/>
              <a:gdLst/>
              <a:ahLst/>
              <a:cxnLst/>
              <a:rect l="l" t="t" r="r" b="b"/>
              <a:pathLst>
                <a:path w="2634196" h="1335317">
                  <a:moveTo>
                    <a:pt x="39477" y="0"/>
                  </a:moveTo>
                  <a:lnTo>
                    <a:pt x="2594719" y="0"/>
                  </a:lnTo>
                  <a:cubicBezTo>
                    <a:pt x="2605189" y="0"/>
                    <a:pt x="2615230" y="4159"/>
                    <a:pt x="2622634" y="11563"/>
                  </a:cubicBezTo>
                  <a:cubicBezTo>
                    <a:pt x="2630037" y="18966"/>
                    <a:pt x="2634196" y="29007"/>
                    <a:pt x="2634196" y="39477"/>
                  </a:cubicBezTo>
                  <a:lnTo>
                    <a:pt x="2634196" y="1295840"/>
                  </a:lnTo>
                  <a:cubicBezTo>
                    <a:pt x="2634196" y="1306310"/>
                    <a:pt x="2630037" y="1316351"/>
                    <a:pt x="2622634" y="1323754"/>
                  </a:cubicBezTo>
                  <a:cubicBezTo>
                    <a:pt x="2615230" y="1331158"/>
                    <a:pt x="2605189" y="1335317"/>
                    <a:pt x="2594719" y="1335317"/>
                  </a:cubicBezTo>
                  <a:lnTo>
                    <a:pt x="39477" y="1335317"/>
                  </a:lnTo>
                  <a:cubicBezTo>
                    <a:pt x="29007" y="1335317"/>
                    <a:pt x="18966" y="1331158"/>
                    <a:pt x="11563" y="1323754"/>
                  </a:cubicBezTo>
                  <a:cubicBezTo>
                    <a:pt x="4159" y="1316351"/>
                    <a:pt x="0" y="1306310"/>
                    <a:pt x="0" y="1295840"/>
                  </a:cubicBezTo>
                  <a:lnTo>
                    <a:pt x="0" y="39477"/>
                  </a:lnTo>
                  <a:cubicBezTo>
                    <a:pt x="0" y="29007"/>
                    <a:pt x="4159" y="18966"/>
                    <a:pt x="11563" y="11563"/>
                  </a:cubicBezTo>
                  <a:cubicBezTo>
                    <a:pt x="18966" y="4159"/>
                    <a:pt x="29007" y="0"/>
                    <a:pt x="39477" y="0"/>
                  </a:cubicBezTo>
                  <a:close/>
                </a:path>
              </a:pathLst>
            </a:custGeom>
            <a:solidFill>
              <a:srgbClr val="0CC0DF"/>
            </a:solidFill>
          </p:spPr>
        </p:sp>
        <p:sp>
          <p:nvSpPr>
            <p:cNvPr id="10" name="TextBox 10"/>
            <p:cNvSpPr txBox="1"/>
            <p:nvPr/>
          </p:nvSpPr>
          <p:spPr>
            <a:xfrm>
              <a:off x="0" y="-38100"/>
              <a:ext cx="2634196" cy="1373417"/>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1548650" y="4095603"/>
            <a:ext cx="5478238" cy="4857440"/>
            <a:chOff x="0" y="0"/>
            <a:chExt cx="848722" cy="752545"/>
          </a:xfrm>
        </p:grpSpPr>
        <p:sp>
          <p:nvSpPr>
            <p:cNvPr id="12" name="Freeform 12"/>
            <p:cNvSpPr/>
            <p:nvPr/>
          </p:nvSpPr>
          <p:spPr>
            <a:xfrm>
              <a:off x="0" y="0"/>
              <a:ext cx="848722" cy="752545"/>
            </a:xfrm>
            <a:custGeom>
              <a:avLst/>
              <a:gdLst/>
              <a:ahLst/>
              <a:cxnLst/>
              <a:rect l="l" t="t" r="r" b="b"/>
              <a:pathLst>
                <a:path w="848722" h="752545">
                  <a:moveTo>
                    <a:pt x="77727" y="0"/>
                  </a:moveTo>
                  <a:lnTo>
                    <a:pt x="770996" y="0"/>
                  </a:lnTo>
                  <a:cubicBezTo>
                    <a:pt x="791610" y="0"/>
                    <a:pt x="811380" y="8189"/>
                    <a:pt x="825957" y="22766"/>
                  </a:cubicBezTo>
                  <a:cubicBezTo>
                    <a:pt x="840533" y="37342"/>
                    <a:pt x="848722" y="57112"/>
                    <a:pt x="848722" y="77727"/>
                  </a:cubicBezTo>
                  <a:lnTo>
                    <a:pt x="848722" y="674818"/>
                  </a:lnTo>
                  <a:cubicBezTo>
                    <a:pt x="848722" y="717745"/>
                    <a:pt x="813923" y="752545"/>
                    <a:pt x="770996" y="752545"/>
                  </a:cubicBezTo>
                  <a:lnTo>
                    <a:pt x="77727" y="752545"/>
                  </a:lnTo>
                  <a:cubicBezTo>
                    <a:pt x="34799" y="752545"/>
                    <a:pt x="0" y="717745"/>
                    <a:pt x="0" y="674818"/>
                  </a:cubicBezTo>
                  <a:lnTo>
                    <a:pt x="0" y="77727"/>
                  </a:lnTo>
                  <a:cubicBezTo>
                    <a:pt x="0" y="34799"/>
                    <a:pt x="34799" y="0"/>
                    <a:pt x="77727" y="0"/>
                  </a:cubicBezTo>
                  <a:close/>
                </a:path>
              </a:pathLst>
            </a:custGeom>
            <a:blipFill>
              <a:blip r:embed="rId2"/>
              <a:stretch>
                <a:fillRect t="-3051" r="-49928" b="-3051"/>
              </a:stretch>
            </a:blipFill>
          </p:spPr>
        </p:sp>
      </p:grpSp>
      <p:sp>
        <p:nvSpPr>
          <p:cNvPr id="13" name="Freeform 13"/>
          <p:cNvSpPr/>
          <p:nvPr/>
        </p:nvSpPr>
        <p:spPr>
          <a:xfrm>
            <a:off x="1199068" y="1028700"/>
            <a:ext cx="10094743" cy="2690497"/>
          </a:xfrm>
          <a:custGeom>
            <a:avLst/>
            <a:gdLst/>
            <a:ahLst/>
            <a:cxnLst/>
            <a:rect l="l" t="t" r="r" b="b"/>
            <a:pathLst>
              <a:path w="10094743" h="2690497">
                <a:moveTo>
                  <a:pt x="0" y="0"/>
                </a:moveTo>
                <a:lnTo>
                  <a:pt x="10094743" y="0"/>
                </a:lnTo>
                <a:lnTo>
                  <a:pt x="10094743" y="2690497"/>
                </a:lnTo>
                <a:lnTo>
                  <a:pt x="0" y="2690497"/>
                </a:lnTo>
                <a:lnTo>
                  <a:pt x="0" y="0"/>
                </a:lnTo>
                <a:close/>
              </a:path>
            </a:pathLst>
          </a:custGeom>
          <a:blipFill>
            <a:blip r:embed="rId3"/>
            <a:stretch>
              <a:fillRect/>
            </a:stretch>
          </a:blipFill>
          <a:ln w="38100" cap="sq">
            <a:solidFill>
              <a:srgbClr val="000000"/>
            </a:solidFill>
            <a:prstDash val="solid"/>
            <a:miter/>
          </a:ln>
        </p:spPr>
      </p:sp>
      <p:sp>
        <p:nvSpPr>
          <p:cNvPr id="14" name="TextBox 14"/>
          <p:cNvSpPr txBox="1"/>
          <p:nvPr/>
        </p:nvSpPr>
        <p:spPr>
          <a:xfrm>
            <a:off x="1199068" y="4458758"/>
            <a:ext cx="9643884" cy="4336415"/>
          </a:xfrm>
          <a:prstGeom prst="rect">
            <a:avLst/>
          </a:prstGeom>
        </p:spPr>
        <p:txBody>
          <a:bodyPr lIns="0" tIns="0" rIns="0" bIns="0" rtlCol="0" anchor="t">
            <a:spAutoFit/>
          </a:bodyPr>
          <a:lstStyle/>
          <a:p>
            <a:pPr marL="410209" lvl="1" indent="-205105" algn="l">
              <a:lnSpc>
                <a:spcPts val="2659"/>
              </a:lnSpc>
              <a:buFont typeface="Arial"/>
              <a:buChar char="•"/>
            </a:pPr>
            <a:r>
              <a:rPr lang="en-US" sz="1899">
                <a:solidFill>
                  <a:srgbClr val="000000"/>
                </a:solidFill>
                <a:latin typeface="Canva Sans"/>
                <a:ea typeface="Canva Sans"/>
                <a:cs typeface="Canva Sans"/>
                <a:sym typeface="Canva Sans"/>
              </a:rPr>
              <a:t>A specific look at 15 West African countries (1995-2014) delivered a counterintuitive finding: renewable energy consumption actually appeared to slow down economic growth. The researchers attribute this primarily to the widespread use of traditional, often inefficiently burned, wood biomass. This reliance negatively impacts health, productivity, and the environment, overshadowing potential benefits and highlighting the need for cleaner technologies and stronger regional commitment to sustainable renewables.</a:t>
            </a:r>
          </a:p>
          <a:p>
            <a:pPr algn="l">
              <a:lnSpc>
                <a:spcPts val="2659"/>
              </a:lnSpc>
            </a:pPr>
            <a:endParaRPr lang="en-US" sz="1899">
              <a:solidFill>
                <a:srgbClr val="000000"/>
              </a:solidFill>
              <a:latin typeface="Canva Sans"/>
              <a:ea typeface="Canva Sans"/>
              <a:cs typeface="Canva Sans"/>
              <a:sym typeface="Canva Sans"/>
            </a:endParaRPr>
          </a:p>
          <a:p>
            <a:pPr marL="410209" lvl="1" indent="-205105" algn="l">
              <a:lnSpc>
                <a:spcPts val="2659"/>
              </a:lnSpc>
              <a:buFont typeface="Arial"/>
              <a:buChar char="•"/>
            </a:pPr>
            <a:r>
              <a:rPr lang="en-US" sz="1899">
                <a:solidFill>
                  <a:srgbClr val="000000"/>
                </a:solidFill>
                <a:latin typeface="Canva Sans"/>
                <a:ea typeface="Canva Sans"/>
                <a:cs typeface="Canva Sans"/>
                <a:sym typeface="Canva Sans"/>
              </a:rPr>
              <a:t>This contrasts with some recent studies using broader datasets which found bidirectional links between renewable energy and growth in diverse groups like G7 nations and MENA oil exporters. Biomass, particularly wood fuel, remains the dominant energy source in much of Africa (around 81% in sub-Saharan Africa), despite significant untapped potential for cleaner alternatives.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091721" y="4005183"/>
            <a:ext cx="6553907" cy="5044690"/>
            <a:chOff x="0" y="0"/>
            <a:chExt cx="1726132" cy="1328643"/>
          </a:xfrm>
        </p:grpSpPr>
        <p:sp>
          <p:nvSpPr>
            <p:cNvPr id="3" name="Freeform 3"/>
            <p:cNvSpPr/>
            <p:nvPr/>
          </p:nvSpPr>
          <p:spPr>
            <a:xfrm>
              <a:off x="0" y="0"/>
              <a:ext cx="1726132" cy="1328643"/>
            </a:xfrm>
            <a:custGeom>
              <a:avLst/>
              <a:gdLst/>
              <a:ahLst/>
              <a:cxnLst/>
              <a:rect l="l" t="t" r="r" b="b"/>
              <a:pathLst>
                <a:path w="1726132" h="1328643">
                  <a:moveTo>
                    <a:pt x="60245" y="0"/>
                  </a:moveTo>
                  <a:lnTo>
                    <a:pt x="1665887" y="0"/>
                  </a:lnTo>
                  <a:cubicBezTo>
                    <a:pt x="1699159" y="0"/>
                    <a:pt x="1726132" y="26972"/>
                    <a:pt x="1726132" y="60245"/>
                  </a:cubicBezTo>
                  <a:lnTo>
                    <a:pt x="1726132" y="1268398"/>
                  </a:lnTo>
                  <a:cubicBezTo>
                    <a:pt x="1726132" y="1301670"/>
                    <a:pt x="1699159" y="1328643"/>
                    <a:pt x="1665887" y="1328643"/>
                  </a:cubicBezTo>
                  <a:lnTo>
                    <a:pt x="60245" y="1328643"/>
                  </a:lnTo>
                  <a:cubicBezTo>
                    <a:pt x="44267" y="1328643"/>
                    <a:pt x="28943" y="1322295"/>
                    <a:pt x="17645" y="1310997"/>
                  </a:cubicBezTo>
                  <a:cubicBezTo>
                    <a:pt x="6347" y="1299699"/>
                    <a:pt x="0" y="1284376"/>
                    <a:pt x="0" y="1268398"/>
                  </a:cubicBezTo>
                  <a:lnTo>
                    <a:pt x="0" y="60245"/>
                  </a:lnTo>
                  <a:cubicBezTo>
                    <a:pt x="0" y="26972"/>
                    <a:pt x="26972" y="0"/>
                    <a:pt x="60245" y="0"/>
                  </a:cubicBezTo>
                  <a:close/>
                </a:path>
              </a:pathLst>
            </a:custGeom>
            <a:solidFill>
              <a:srgbClr val="FFBD59"/>
            </a:solidFill>
            <a:ln w="38100" cap="rnd">
              <a:solidFill>
                <a:srgbClr val="000000"/>
              </a:solidFill>
              <a:prstDash val="solid"/>
              <a:round/>
            </a:ln>
          </p:spPr>
        </p:sp>
        <p:sp>
          <p:nvSpPr>
            <p:cNvPr id="4" name="TextBox 4"/>
            <p:cNvSpPr txBox="1"/>
            <p:nvPr/>
          </p:nvSpPr>
          <p:spPr>
            <a:xfrm>
              <a:off x="0" y="-38100"/>
              <a:ext cx="1726132" cy="136674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642372" y="540741"/>
            <a:ext cx="17003256" cy="9205519"/>
            <a:chOff x="0" y="0"/>
            <a:chExt cx="4478224" cy="2424499"/>
          </a:xfrm>
        </p:grpSpPr>
        <p:sp>
          <p:nvSpPr>
            <p:cNvPr id="6" name="Freeform 6"/>
            <p:cNvSpPr/>
            <p:nvPr/>
          </p:nvSpPr>
          <p:spPr>
            <a:xfrm>
              <a:off x="0" y="0"/>
              <a:ext cx="4478224" cy="2424499"/>
            </a:xfrm>
            <a:custGeom>
              <a:avLst/>
              <a:gdLst/>
              <a:ahLst/>
              <a:cxnLst/>
              <a:rect l="l" t="t" r="r" b="b"/>
              <a:pathLst>
                <a:path w="4478224" h="2424499">
                  <a:moveTo>
                    <a:pt x="23221" y="0"/>
                  </a:moveTo>
                  <a:lnTo>
                    <a:pt x="4455002" y="0"/>
                  </a:lnTo>
                  <a:cubicBezTo>
                    <a:pt x="4467827" y="0"/>
                    <a:pt x="4478224" y="10397"/>
                    <a:pt x="4478224" y="23221"/>
                  </a:cubicBezTo>
                  <a:lnTo>
                    <a:pt x="4478224" y="2401277"/>
                  </a:lnTo>
                  <a:cubicBezTo>
                    <a:pt x="4478224" y="2414102"/>
                    <a:pt x="4467827" y="2424499"/>
                    <a:pt x="4455002" y="2424499"/>
                  </a:cubicBezTo>
                  <a:lnTo>
                    <a:pt x="23221" y="2424499"/>
                  </a:lnTo>
                  <a:cubicBezTo>
                    <a:pt x="10397" y="2424499"/>
                    <a:pt x="0" y="2414102"/>
                    <a:pt x="0" y="2401277"/>
                  </a:cubicBezTo>
                  <a:lnTo>
                    <a:pt x="0" y="23221"/>
                  </a:lnTo>
                  <a:cubicBezTo>
                    <a:pt x="0" y="10397"/>
                    <a:pt x="10397" y="0"/>
                    <a:pt x="23221" y="0"/>
                  </a:cubicBezTo>
                  <a:close/>
                </a:path>
              </a:pathLst>
            </a:custGeom>
            <a:solidFill>
              <a:srgbClr val="000000">
                <a:alpha val="0"/>
              </a:srgbClr>
            </a:solidFill>
            <a:ln w="38100" cap="rnd">
              <a:solidFill>
                <a:srgbClr val="000000"/>
              </a:solidFill>
              <a:prstDash val="solid"/>
              <a:round/>
            </a:ln>
          </p:spPr>
        </p:sp>
        <p:sp>
          <p:nvSpPr>
            <p:cNvPr id="7" name="TextBox 7"/>
            <p:cNvSpPr txBox="1"/>
            <p:nvPr/>
          </p:nvSpPr>
          <p:spPr>
            <a:xfrm>
              <a:off x="0" y="-38100"/>
              <a:ext cx="4478224" cy="2462599"/>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3631787"/>
            <a:ext cx="10001713" cy="5626513"/>
            <a:chOff x="0" y="0"/>
            <a:chExt cx="2634196" cy="1481880"/>
          </a:xfrm>
        </p:grpSpPr>
        <p:sp>
          <p:nvSpPr>
            <p:cNvPr id="9" name="Freeform 9"/>
            <p:cNvSpPr/>
            <p:nvPr/>
          </p:nvSpPr>
          <p:spPr>
            <a:xfrm>
              <a:off x="0" y="0"/>
              <a:ext cx="2634196" cy="1481880"/>
            </a:xfrm>
            <a:custGeom>
              <a:avLst/>
              <a:gdLst/>
              <a:ahLst/>
              <a:cxnLst/>
              <a:rect l="l" t="t" r="r" b="b"/>
              <a:pathLst>
                <a:path w="2634196" h="1481880">
                  <a:moveTo>
                    <a:pt x="39477" y="0"/>
                  </a:moveTo>
                  <a:lnTo>
                    <a:pt x="2594719" y="0"/>
                  </a:lnTo>
                  <a:cubicBezTo>
                    <a:pt x="2605189" y="0"/>
                    <a:pt x="2615230" y="4159"/>
                    <a:pt x="2622634" y="11563"/>
                  </a:cubicBezTo>
                  <a:cubicBezTo>
                    <a:pt x="2630037" y="18966"/>
                    <a:pt x="2634196" y="29007"/>
                    <a:pt x="2634196" y="39477"/>
                  </a:cubicBezTo>
                  <a:lnTo>
                    <a:pt x="2634196" y="1442403"/>
                  </a:lnTo>
                  <a:cubicBezTo>
                    <a:pt x="2634196" y="1452873"/>
                    <a:pt x="2630037" y="1462914"/>
                    <a:pt x="2622634" y="1470318"/>
                  </a:cubicBezTo>
                  <a:cubicBezTo>
                    <a:pt x="2615230" y="1477721"/>
                    <a:pt x="2605189" y="1481880"/>
                    <a:pt x="2594719" y="1481880"/>
                  </a:cubicBezTo>
                  <a:lnTo>
                    <a:pt x="39477" y="1481880"/>
                  </a:lnTo>
                  <a:cubicBezTo>
                    <a:pt x="29007" y="1481880"/>
                    <a:pt x="18966" y="1477721"/>
                    <a:pt x="11563" y="1470318"/>
                  </a:cubicBezTo>
                  <a:cubicBezTo>
                    <a:pt x="4159" y="1462914"/>
                    <a:pt x="0" y="1452873"/>
                    <a:pt x="0" y="1442403"/>
                  </a:cubicBezTo>
                  <a:lnTo>
                    <a:pt x="0" y="39477"/>
                  </a:lnTo>
                  <a:cubicBezTo>
                    <a:pt x="0" y="29007"/>
                    <a:pt x="4159" y="18966"/>
                    <a:pt x="11563" y="11563"/>
                  </a:cubicBezTo>
                  <a:cubicBezTo>
                    <a:pt x="18966" y="4159"/>
                    <a:pt x="29007" y="0"/>
                    <a:pt x="39477" y="0"/>
                  </a:cubicBezTo>
                  <a:close/>
                </a:path>
              </a:pathLst>
            </a:custGeom>
            <a:solidFill>
              <a:srgbClr val="0CC0DF"/>
            </a:solidFill>
          </p:spPr>
        </p:sp>
        <p:sp>
          <p:nvSpPr>
            <p:cNvPr id="10" name="TextBox 10"/>
            <p:cNvSpPr txBox="1"/>
            <p:nvPr/>
          </p:nvSpPr>
          <p:spPr>
            <a:xfrm>
              <a:off x="0" y="-38100"/>
              <a:ext cx="2634196" cy="151998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1255716" y="4187488"/>
            <a:ext cx="6228887" cy="4705420"/>
            <a:chOff x="0" y="0"/>
            <a:chExt cx="1145638" cy="865437"/>
          </a:xfrm>
        </p:grpSpPr>
        <p:sp>
          <p:nvSpPr>
            <p:cNvPr id="12" name="Freeform 12"/>
            <p:cNvSpPr/>
            <p:nvPr/>
          </p:nvSpPr>
          <p:spPr>
            <a:xfrm>
              <a:off x="0" y="0"/>
              <a:ext cx="1145638" cy="865437"/>
            </a:xfrm>
            <a:custGeom>
              <a:avLst/>
              <a:gdLst/>
              <a:ahLst/>
              <a:cxnLst/>
              <a:rect l="l" t="t" r="r" b="b"/>
              <a:pathLst>
                <a:path w="1145638" h="865437">
                  <a:moveTo>
                    <a:pt x="68360" y="0"/>
                  </a:moveTo>
                  <a:lnTo>
                    <a:pt x="1077279" y="0"/>
                  </a:lnTo>
                  <a:cubicBezTo>
                    <a:pt x="1115033" y="0"/>
                    <a:pt x="1145638" y="30606"/>
                    <a:pt x="1145638" y="68360"/>
                  </a:cubicBezTo>
                  <a:lnTo>
                    <a:pt x="1145638" y="797077"/>
                  </a:lnTo>
                  <a:cubicBezTo>
                    <a:pt x="1145638" y="834831"/>
                    <a:pt x="1115033" y="865437"/>
                    <a:pt x="1077279" y="865437"/>
                  </a:cubicBezTo>
                  <a:lnTo>
                    <a:pt x="68360" y="865437"/>
                  </a:lnTo>
                  <a:cubicBezTo>
                    <a:pt x="30606" y="865437"/>
                    <a:pt x="0" y="834831"/>
                    <a:pt x="0" y="797077"/>
                  </a:cubicBezTo>
                  <a:lnTo>
                    <a:pt x="0" y="68360"/>
                  </a:lnTo>
                  <a:cubicBezTo>
                    <a:pt x="0" y="30606"/>
                    <a:pt x="30606" y="0"/>
                    <a:pt x="68360" y="0"/>
                  </a:cubicBezTo>
                  <a:close/>
                </a:path>
              </a:pathLst>
            </a:custGeom>
            <a:blipFill>
              <a:blip r:embed="rId2"/>
              <a:stretch>
                <a:fillRect l="-2733" r="-2733"/>
              </a:stretch>
            </a:blipFill>
          </p:spPr>
        </p:sp>
      </p:grpSp>
      <p:sp>
        <p:nvSpPr>
          <p:cNvPr id="13" name="Freeform 13"/>
          <p:cNvSpPr/>
          <p:nvPr/>
        </p:nvSpPr>
        <p:spPr>
          <a:xfrm>
            <a:off x="1028700" y="1028700"/>
            <a:ext cx="9593865" cy="2452364"/>
          </a:xfrm>
          <a:custGeom>
            <a:avLst/>
            <a:gdLst/>
            <a:ahLst/>
            <a:cxnLst/>
            <a:rect l="l" t="t" r="r" b="b"/>
            <a:pathLst>
              <a:path w="9593865" h="2452364">
                <a:moveTo>
                  <a:pt x="0" y="0"/>
                </a:moveTo>
                <a:lnTo>
                  <a:pt x="9593865" y="0"/>
                </a:lnTo>
                <a:lnTo>
                  <a:pt x="9593865" y="2452364"/>
                </a:lnTo>
                <a:lnTo>
                  <a:pt x="0" y="2452364"/>
                </a:lnTo>
                <a:lnTo>
                  <a:pt x="0" y="0"/>
                </a:lnTo>
                <a:close/>
              </a:path>
            </a:pathLst>
          </a:custGeom>
          <a:blipFill>
            <a:blip r:embed="rId3"/>
            <a:stretch>
              <a:fillRect/>
            </a:stretch>
          </a:blipFill>
        </p:spPr>
      </p:sp>
      <p:sp>
        <p:nvSpPr>
          <p:cNvPr id="14" name="TextBox 14"/>
          <p:cNvSpPr txBox="1"/>
          <p:nvPr/>
        </p:nvSpPr>
        <p:spPr>
          <a:xfrm>
            <a:off x="1145506" y="3890978"/>
            <a:ext cx="9572308" cy="5336540"/>
          </a:xfrm>
          <a:prstGeom prst="rect">
            <a:avLst/>
          </a:prstGeom>
        </p:spPr>
        <p:txBody>
          <a:bodyPr lIns="0" tIns="0" rIns="0" bIns="0" rtlCol="0" anchor="t">
            <a:spAutoFit/>
          </a:bodyPr>
          <a:lstStyle/>
          <a:p>
            <a:pPr marL="410209" lvl="1" indent="-205105" algn="l">
              <a:lnSpc>
                <a:spcPts val="2659"/>
              </a:lnSpc>
              <a:buFont typeface="Arial"/>
              <a:buChar char="•"/>
            </a:pPr>
            <a:r>
              <a:rPr lang="en-US" sz="1899">
                <a:solidFill>
                  <a:srgbClr val="000000"/>
                </a:solidFill>
                <a:latin typeface="Canva Sans"/>
                <a:ea typeface="Canva Sans"/>
                <a:cs typeface="Canva Sans"/>
                <a:sym typeface="Canva Sans"/>
              </a:rPr>
              <a:t>In Tunisia (1984-2017), the interplay between institutional quality, financial development, economic growth, and renewable energy was examined. Using models sensitive to non-linear relationships, the study found that financial development actually hampered renewable energy uptake, suggesting a need for financial systems better geared towards sustainability. Conversely, economic growth and better institutions both encouraged renewable energy use, with influences running in both directions between these factors.</a:t>
            </a:r>
          </a:p>
          <a:p>
            <a:pPr algn="l">
              <a:lnSpc>
                <a:spcPts val="2659"/>
              </a:lnSpc>
            </a:pPr>
            <a:endParaRPr lang="en-US" sz="1899">
              <a:solidFill>
                <a:srgbClr val="000000"/>
              </a:solidFill>
              <a:latin typeface="Canva Sans"/>
              <a:ea typeface="Canva Sans"/>
              <a:cs typeface="Canva Sans"/>
              <a:sym typeface="Canva Sans"/>
            </a:endParaRPr>
          </a:p>
          <a:p>
            <a:pPr marL="410209" lvl="1" indent="-205105" algn="l">
              <a:lnSpc>
                <a:spcPts val="2659"/>
              </a:lnSpc>
              <a:buFont typeface="Arial"/>
              <a:buChar char="•"/>
            </a:pPr>
            <a:r>
              <a:rPr lang="en-US" sz="1899">
                <a:solidFill>
                  <a:srgbClr val="000000"/>
                </a:solidFill>
                <a:latin typeface="Canva Sans"/>
                <a:ea typeface="Canva Sans"/>
                <a:cs typeface="Canva Sans"/>
                <a:sym typeface="Canva Sans"/>
              </a:rPr>
              <a:t>Historically, research has categorized the energy-growth link into four main types: feedback, conservation, neutrality, or growth-led, with economic and environmental factors initially seen as the main drivers for renewable demand. Good institutions are often shown to help renewable transitions (as seen in developing countries, MENA, and globally), but the role of finance is mixed – beneficial in developed markets but sometimes negative elsewhere (like Ghana).</a:t>
            </a:r>
          </a:p>
          <a:p>
            <a:pPr algn="l">
              <a:lnSpc>
                <a:spcPts val="2659"/>
              </a:lnSpc>
            </a:pPr>
            <a:endParaRPr lang="en-US" sz="1899">
              <a:solidFill>
                <a:srgbClr val="000000"/>
              </a:solidFill>
              <a:latin typeface="Canva Sans"/>
              <a:ea typeface="Canva Sans"/>
              <a:cs typeface="Canva Sans"/>
              <a:sym typeface="Canv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42372" y="540741"/>
            <a:ext cx="17003256" cy="9205519"/>
            <a:chOff x="0" y="0"/>
            <a:chExt cx="4478224" cy="2424499"/>
          </a:xfrm>
        </p:grpSpPr>
        <p:sp>
          <p:nvSpPr>
            <p:cNvPr id="3" name="Freeform 3"/>
            <p:cNvSpPr/>
            <p:nvPr/>
          </p:nvSpPr>
          <p:spPr>
            <a:xfrm>
              <a:off x="0" y="0"/>
              <a:ext cx="4478224" cy="2424499"/>
            </a:xfrm>
            <a:custGeom>
              <a:avLst/>
              <a:gdLst/>
              <a:ahLst/>
              <a:cxnLst/>
              <a:rect l="l" t="t" r="r" b="b"/>
              <a:pathLst>
                <a:path w="4478224" h="2424499">
                  <a:moveTo>
                    <a:pt x="23221" y="0"/>
                  </a:moveTo>
                  <a:lnTo>
                    <a:pt x="4455002" y="0"/>
                  </a:lnTo>
                  <a:cubicBezTo>
                    <a:pt x="4467827" y="0"/>
                    <a:pt x="4478224" y="10397"/>
                    <a:pt x="4478224" y="23221"/>
                  </a:cubicBezTo>
                  <a:lnTo>
                    <a:pt x="4478224" y="2401277"/>
                  </a:lnTo>
                  <a:cubicBezTo>
                    <a:pt x="4478224" y="2414102"/>
                    <a:pt x="4467827" y="2424499"/>
                    <a:pt x="4455002" y="2424499"/>
                  </a:cubicBezTo>
                  <a:lnTo>
                    <a:pt x="23221" y="2424499"/>
                  </a:lnTo>
                  <a:cubicBezTo>
                    <a:pt x="10397" y="2424499"/>
                    <a:pt x="0" y="2414102"/>
                    <a:pt x="0" y="2401277"/>
                  </a:cubicBezTo>
                  <a:lnTo>
                    <a:pt x="0" y="23221"/>
                  </a:lnTo>
                  <a:cubicBezTo>
                    <a:pt x="0" y="10397"/>
                    <a:pt x="10397" y="0"/>
                    <a:pt x="23221" y="0"/>
                  </a:cubicBezTo>
                  <a:close/>
                </a:path>
              </a:pathLst>
            </a:custGeom>
            <a:solidFill>
              <a:srgbClr val="000000">
                <a:alpha val="0"/>
              </a:srgbClr>
            </a:solidFill>
            <a:ln w="38100" cap="rnd">
              <a:solidFill>
                <a:srgbClr val="000000"/>
              </a:solidFill>
              <a:prstDash val="solid"/>
              <a:round/>
            </a:ln>
          </p:spPr>
        </p:sp>
        <p:sp>
          <p:nvSpPr>
            <p:cNvPr id="4" name="TextBox 4"/>
            <p:cNvSpPr txBox="1"/>
            <p:nvPr/>
          </p:nvSpPr>
          <p:spPr>
            <a:xfrm>
              <a:off x="0" y="-38100"/>
              <a:ext cx="4478224" cy="2462599"/>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1339987" y="2585244"/>
            <a:ext cx="6060344" cy="5838220"/>
            <a:chOff x="0" y="0"/>
            <a:chExt cx="1596140" cy="1537638"/>
          </a:xfrm>
        </p:grpSpPr>
        <p:sp>
          <p:nvSpPr>
            <p:cNvPr id="6" name="Freeform 6"/>
            <p:cNvSpPr/>
            <p:nvPr/>
          </p:nvSpPr>
          <p:spPr>
            <a:xfrm>
              <a:off x="0" y="0"/>
              <a:ext cx="1596140" cy="1537638"/>
            </a:xfrm>
            <a:custGeom>
              <a:avLst/>
              <a:gdLst/>
              <a:ahLst/>
              <a:cxnLst/>
              <a:rect l="l" t="t" r="r" b="b"/>
              <a:pathLst>
                <a:path w="1596140" h="1537638">
                  <a:moveTo>
                    <a:pt x="65151" y="0"/>
                  </a:moveTo>
                  <a:lnTo>
                    <a:pt x="1530989" y="0"/>
                  </a:lnTo>
                  <a:cubicBezTo>
                    <a:pt x="1548268" y="0"/>
                    <a:pt x="1564839" y="6864"/>
                    <a:pt x="1577058" y="19082"/>
                  </a:cubicBezTo>
                  <a:cubicBezTo>
                    <a:pt x="1589276" y="31301"/>
                    <a:pt x="1596140" y="47872"/>
                    <a:pt x="1596140" y="65151"/>
                  </a:cubicBezTo>
                  <a:lnTo>
                    <a:pt x="1596140" y="1472487"/>
                  </a:lnTo>
                  <a:cubicBezTo>
                    <a:pt x="1596140" y="1489766"/>
                    <a:pt x="1589276" y="1506338"/>
                    <a:pt x="1577058" y="1518556"/>
                  </a:cubicBezTo>
                  <a:cubicBezTo>
                    <a:pt x="1564839" y="1530774"/>
                    <a:pt x="1548268" y="1537638"/>
                    <a:pt x="1530989" y="1537638"/>
                  </a:cubicBezTo>
                  <a:lnTo>
                    <a:pt x="65151" y="1537638"/>
                  </a:lnTo>
                  <a:cubicBezTo>
                    <a:pt x="29169" y="1537638"/>
                    <a:pt x="0" y="1508469"/>
                    <a:pt x="0" y="1472487"/>
                  </a:cubicBezTo>
                  <a:lnTo>
                    <a:pt x="0" y="65151"/>
                  </a:lnTo>
                  <a:cubicBezTo>
                    <a:pt x="0" y="47872"/>
                    <a:pt x="6864" y="31301"/>
                    <a:pt x="19082" y="19082"/>
                  </a:cubicBezTo>
                  <a:cubicBezTo>
                    <a:pt x="31301" y="6864"/>
                    <a:pt x="47872" y="0"/>
                    <a:pt x="65151" y="0"/>
                  </a:cubicBezTo>
                  <a:close/>
                </a:path>
              </a:pathLst>
            </a:custGeom>
            <a:solidFill>
              <a:srgbClr val="FFBD59"/>
            </a:solidFill>
            <a:ln w="38100" cap="rnd">
              <a:solidFill>
                <a:srgbClr val="000000"/>
              </a:solidFill>
              <a:prstDash val="solid"/>
              <a:round/>
            </a:ln>
          </p:spPr>
        </p:sp>
        <p:sp>
          <p:nvSpPr>
            <p:cNvPr id="7" name="TextBox 7"/>
            <p:cNvSpPr txBox="1"/>
            <p:nvPr/>
          </p:nvSpPr>
          <p:spPr>
            <a:xfrm>
              <a:off x="0" y="-38100"/>
              <a:ext cx="1596140" cy="1575738"/>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1481018" y="2786252"/>
            <a:ext cx="5778282" cy="5436204"/>
            <a:chOff x="0" y="0"/>
            <a:chExt cx="895207" cy="842210"/>
          </a:xfrm>
        </p:grpSpPr>
        <p:sp>
          <p:nvSpPr>
            <p:cNvPr id="9" name="Freeform 9"/>
            <p:cNvSpPr/>
            <p:nvPr/>
          </p:nvSpPr>
          <p:spPr>
            <a:xfrm>
              <a:off x="0" y="0"/>
              <a:ext cx="895207" cy="842210"/>
            </a:xfrm>
            <a:custGeom>
              <a:avLst/>
              <a:gdLst/>
              <a:ahLst/>
              <a:cxnLst/>
              <a:rect l="l" t="t" r="r" b="b"/>
              <a:pathLst>
                <a:path w="895207" h="842210">
                  <a:moveTo>
                    <a:pt x="26797" y="0"/>
                  </a:moveTo>
                  <a:lnTo>
                    <a:pt x="868410" y="0"/>
                  </a:lnTo>
                  <a:cubicBezTo>
                    <a:pt x="883210" y="0"/>
                    <a:pt x="895207" y="11997"/>
                    <a:pt x="895207" y="26797"/>
                  </a:cubicBezTo>
                  <a:lnTo>
                    <a:pt x="895207" y="815414"/>
                  </a:lnTo>
                  <a:cubicBezTo>
                    <a:pt x="895207" y="822521"/>
                    <a:pt x="892384" y="829336"/>
                    <a:pt x="887359" y="834362"/>
                  </a:cubicBezTo>
                  <a:cubicBezTo>
                    <a:pt x="882333" y="839387"/>
                    <a:pt x="875517" y="842210"/>
                    <a:pt x="868410" y="842210"/>
                  </a:cubicBezTo>
                  <a:lnTo>
                    <a:pt x="26797" y="842210"/>
                  </a:lnTo>
                  <a:cubicBezTo>
                    <a:pt x="11997" y="842210"/>
                    <a:pt x="0" y="830213"/>
                    <a:pt x="0" y="815414"/>
                  </a:cubicBezTo>
                  <a:lnTo>
                    <a:pt x="0" y="26797"/>
                  </a:lnTo>
                  <a:cubicBezTo>
                    <a:pt x="0" y="11997"/>
                    <a:pt x="11997" y="0"/>
                    <a:pt x="26797" y="0"/>
                  </a:cubicBezTo>
                  <a:close/>
                </a:path>
              </a:pathLst>
            </a:custGeom>
            <a:blipFill>
              <a:blip r:embed="rId2"/>
              <a:stretch>
                <a:fillRect t="-1694" b="-1694"/>
              </a:stretch>
            </a:blipFill>
          </p:spPr>
        </p:sp>
      </p:grpSp>
      <p:grpSp>
        <p:nvGrpSpPr>
          <p:cNvPr id="10" name="Group 10"/>
          <p:cNvGrpSpPr/>
          <p:nvPr/>
        </p:nvGrpSpPr>
        <p:grpSpPr>
          <a:xfrm>
            <a:off x="1028700" y="3822096"/>
            <a:ext cx="10001713" cy="5070031"/>
            <a:chOff x="0" y="0"/>
            <a:chExt cx="2634196" cy="1335317"/>
          </a:xfrm>
        </p:grpSpPr>
        <p:sp>
          <p:nvSpPr>
            <p:cNvPr id="11" name="Freeform 11"/>
            <p:cNvSpPr/>
            <p:nvPr/>
          </p:nvSpPr>
          <p:spPr>
            <a:xfrm>
              <a:off x="0" y="0"/>
              <a:ext cx="2634196" cy="1335317"/>
            </a:xfrm>
            <a:custGeom>
              <a:avLst/>
              <a:gdLst/>
              <a:ahLst/>
              <a:cxnLst/>
              <a:rect l="l" t="t" r="r" b="b"/>
              <a:pathLst>
                <a:path w="2634196" h="1335317">
                  <a:moveTo>
                    <a:pt x="39477" y="0"/>
                  </a:moveTo>
                  <a:lnTo>
                    <a:pt x="2594719" y="0"/>
                  </a:lnTo>
                  <a:cubicBezTo>
                    <a:pt x="2605189" y="0"/>
                    <a:pt x="2615230" y="4159"/>
                    <a:pt x="2622634" y="11563"/>
                  </a:cubicBezTo>
                  <a:cubicBezTo>
                    <a:pt x="2630037" y="18966"/>
                    <a:pt x="2634196" y="29007"/>
                    <a:pt x="2634196" y="39477"/>
                  </a:cubicBezTo>
                  <a:lnTo>
                    <a:pt x="2634196" y="1295840"/>
                  </a:lnTo>
                  <a:cubicBezTo>
                    <a:pt x="2634196" y="1306310"/>
                    <a:pt x="2630037" y="1316351"/>
                    <a:pt x="2622634" y="1323754"/>
                  </a:cubicBezTo>
                  <a:cubicBezTo>
                    <a:pt x="2615230" y="1331158"/>
                    <a:pt x="2605189" y="1335317"/>
                    <a:pt x="2594719" y="1335317"/>
                  </a:cubicBezTo>
                  <a:lnTo>
                    <a:pt x="39477" y="1335317"/>
                  </a:lnTo>
                  <a:cubicBezTo>
                    <a:pt x="29007" y="1335317"/>
                    <a:pt x="18966" y="1331158"/>
                    <a:pt x="11563" y="1323754"/>
                  </a:cubicBezTo>
                  <a:cubicBezTo>
                    <a:pt x="4159" y="1316351"/>
                    <a:pt x="0" y="1306310"/>
                    <a:pt x="0" y="1295840"/>
                  </a:cubicBezTo>
                  <a:lnTo>
                    <a:pt x="0" y="39477"/>
                  </a:lnTo>
                  <a:cubicBezTo>
                    <a:pt x="0" y="29007"/>
                    <a:pt x="4159" y="18966"/>
                    <a:pt x="11563" y="11563"/>
                  </a:cubicBezTo>
                  <a:cubicBezTo>
                    <a:pt x="18966" y="4159"/>
                    <a:pt x="29007" y="0"/>
                    <a:pt x="39477" y="0"/>
                  </a:cubicBezTo>
                  <a:close/>
                </a:path>
              </a:pathLst>
            </a:custGeom>
            <a:solidFill>
              <a:srgbClr val="0CC0DF"/>
            </a:solidFill>
          </p:spPr>
        </p:sp>
        <p:sp>
          <p:nvSpPr>
            <p:cNvPr id="12" name="TextBox 12"/>
            <p:cNvSpPr txBox="1"/>
            <p:nvPr/>
          </p:nvSpPr>
          <p:spPr>
            <a:xfrm>
              <a:off x="0" y="-38100"/>
              <a:ext cx="2634196" cy="1373417"/>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1314014" y="4159694"/>
            <a:ext cx="9431086" cy="4069080"/>
          </a:xfrm>
          <a:prstGeom prst="rect">
            <a:avLst/>
          </a:prstGeom>
        </p:spPr>
        <p:txBody>
          <a:bodyPr lIns="0" tIns="0" rIns="0" bIns="0" rtlCol="0" anchor="t">
            <a:spAutoFit/>
          </a:bodyPr>
          <a:lstStyle/>
          <a:p>
            <a:pPr marL="388620" lvl="1" indent="-194310" algn="l">
              <a:lnSpc>
                <a:spcPts val="2520"/>
              </a:lnSpc>
              <a:buFont typeface="Arial"/>
              <a:buChar char="•"/>
            </a:pPr>
            <a:r>
              <a:rPr lang="en-US" sz="1800">
                <a:solidFill>
                  <a:srgbClr val="000000"/>
                </a:solidFill>
                <a:latin typeface="Canva Sans"/>
                <a:ea typeface="Canva Sans"/>
                <a:cs typeface="Canva Sans"/>
                <a:sym typeface="Canva Sans"/>
              </a:rPr>
              <a:t>Research across 30 countries (2000-2013)</a:t>
            </a:r>
          </a:p>
          <a:p>
            <a:pPr algn="l">
              <a:lnSpc>
                <a:spcPts val="2520"/>
              </a:lnSpc>
            </a:pPr>
            <a:endParaRPr lang="en-US" sz="1800">
              <a:solidFill>
                <a:srgbClr val="000000"/>
              </a:solidFill>
              <a:latin typeface="Canva Sans"/>
              <a:ea typeface="Canva Sans"/>
              <a:cs typeface="Canva Sans"/>
              <a:sym typeface="Canva Sans"/>
            </a:endParaRPr>
          </a:p>
          <a:p>
            <a:pPr marL="388620" lvl="1" indent="-194310" algn="l">
              <a:lnSpc>
                <a:spcPts val="2520"/>
              </a:lnSpc>
              <a:buFont typeface="Arial"/>
              <a:buChar char="•"/>
            </a:pPr>
            <a:r>
              <a:rPr lang="en-US" sz="1800">
                <a:solidFill>
                  <a:srgbClr val="000000"/>
                </a:solidFill>
                <a:latin typeface="Canva Sans"/>
                <a:ea typeface="Canva Sans"/>
                <a:cs typeface="Canva Sans"/>
                <a:sym typeface="Canva Sans"/>
              </a:rPr>
              <a:t>Renewable energy sectors needing significant debt or equity financing grew notably faster in countries with more developed financial markets. This supports the idea that financial development helps reduce CO2 emissions by making it easier to fund and deploy renewable energy. Equity markets contribute by providing clear price signals, reducing risk, facilitating corporate changes, and supporting high-tech ventures.</a:t>
            </a:r>
          </a:p>
          <a:p>
            <a:pPr algn="l">
              <a:lnSpc>
                <a:spcPts val="2520"/>
              </a:lnSpc>
            </a:pPr>
            <a:endParaRPr lang="en-US" sz="1800">
              <a:solidFill>
                <a:srgbClr val="000000"/>
              </a:solidFill>
              <a:latin typeface="Canva Sans"/>
              <a:ea typeface="Canva Sans"/>
              <a:cs typeface="Canva Sans"/>
              <a:sym typeface="Canva Sans"/>
            </a:endParaRPr>
          </a:p>
          <a:p>
            <a:pPr marL="388620" lvl="1" indent="-194310" algn="l">
              <a:lnSpc>
                <a:spcPts val="2520"/>
              </a:lnSpc>
              <a:buFont typeface="Arial"/>
              <a:buChar char="•"/>
            </a:pPr>
            <a:r>
              <a:rPr lang="en-US" sz="1800">
                <a:solidFill>
                  <a:srgbClr val="000000"/>
                </a:solidFill>
                <a:latin typeface="Canva Sans"/>
                <a:ea typeface="Canva Sans"/>
                <a:cs typeface="Canva Sans"/>
                <a:sym typeface="Canva Sans"/>
              </a:rPr>
              <a:t>Similarly, developed credit markets help through banks' expertise in project selection and monitoring, lower information costs, and staged financing suitable for innovative projects. Essentially, well-rounded financial market development appears crucial for accelerating the shift to renewable energy.</a:t>
            </a:r>
          </a:p>
        </p:txBody>
      </p:sp>
      <p:sp>
        <p:nvSpPr>
          <p:cNvPr id="14" name="Freeform 14"/>
          <p:cNvSpPr/>
          <p:nvPr/>
        </p:nvSpPr>
        <p:spPr>
          <a:xfrm>
            <a:off x="1077963" y="1028700"/>
            <a:ext cx="9952450" cy="2163576"/>
          </a:xfrm>
          <a:custGeom>
            <a:avLst/>
            <a:gdLst/>
            <a:ahLst/>
            <a:cxnLst/>
            <a:rect l="l" t="t" r="r" b="b"/>
            <a:pathLst>
              <a:path w="9952450" h="2163576">
                <a:moveTo>
                  <a:pt x="0" y="0"/>
                </a:moveTo>
                <a:lnTo>
                  <a:pt x="9952450" y="0"/>
                </a:lnTo>
                <a:lnTo>
                  <a:pt x="9952450" y="2163576"/>
                </a:lnTo>
                <a:lnTo>
                  <a:pt x="0" y="2163576"/>
                </a:lnTo>
                <a:lnTo>
                  <a:pt x="0" y="0"/>
                </a:lnTo>
                <a:close/>
              </a:path>
            </a:pathLst>
          </a:custGeom>
          <a:blipFill>
            <a:blip r:embed="rId3"/>
            <a:stretch>
              <a:fillRect/>
            </a:stretch>
          </a:blipFill>
          <a:ln w="38100" cap="sq">
            <a:solidFill>
              <a:srgbClr val="000000"/>
            </a:solidFill>
            <a:prstDash val="solid"/>
            <a:miter/>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958166" y="3945524"/>
            <a:ext cx="14371668" cy="2272127"/>
          </a:xfrm>
          <a:prstGeom prst="rect">
            <a:avLst/>
          </a:prstGeom>
        </p:spPr>
        <p:txBody>
          <a:bodyPr lIns="0" tIns="0" rIns="0" bIns="0" rtlCol="0" anchor="t">
            <a:spAutoFit/>
          </a:bodyPr>
          <a:lstStyle/>
          <a:p>
            <a:pPr algn="ctr">
              <a:lnSpc>
                <a:spcPts val="9115"/>
              </a:lnSpc>
            </a:pPr>
            <a:r>
              <a:rPr lang="en-US" sz="6510" b="1">
                <a:solidFill>
                  <a:srgbClr val="000000"/>
                </a:solidFill>
                <a:latin typeface="Canva Sans Bold"/>
                <a:ea typeface="Canva Sans Bold"/>
                <a:cs typeface="Canva Sans Bold"/>
                <a:sym typeface="Canva Sans Bold"/>
              </a:rPr>
              <a:t>RESEARCH METHODOLOGY</a:t>
            </a:r>
          </a:p>
          <a:p>
            <a:pPr algn="ctr">
              <a:lnSpc>
                <a:spcPts val="9115"/>
              </a:lnSpc>
            </a:pPr>
            <a:r>
              <a:rPr lang="en-US" sz="6510" b="1">
                <a:solidFill>
                  <a:srgbClr val="000000"/>
                </a:solidFill>
                <a:latin typeface="Canva Sans Bold"/>
                <a:ea typeface="Canva Sans Bold"/>
                <a:cs typeface="Canva Sans Bold"/>
                <a:sym typeface="Canva Sans Bold"/>
              </a:rPr>
              <a:t>AND MAJOR FINDINGS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0" y="1858219"/>
          <a:ext cx="18288000" cy="8428782"/>
        </p:xfrm>
        <a:graphic>
          <a:graphicData uri="http://schemas.openxmlformats.org/drawingml/2006/table">
            <a:tbl>
              <a:tblPr/>
              <a:tblGrid>
                <a:gridCol w="4206261">
                  <a:extLst>
                    <a:ext uri="{9D8B030D-6E8A-4147-A177-3AD203B41FA5}">
                      <a16:colId xmlns:a16="http://schemas.microsoft.com/office/drawing/2014/main" val="20000"/>
                    </a:ext>
                  </a:extLst>
                </a:gridCol>
                <a:gridCol w="4206261">
                  <a:extLst>
                    <a:ext uri="{9D8B030D-6E8A-4147-A177-3AD203B41FA5}">
                      <a16:colId xmlns:a16="http://schemas.microsoft.com/office/drawing/2014/main" val="20001"/>
                    </a:ext>
                  </a:extLst>
                </a:gridCol>
                <a:gridCol w="4206261">
                  <a:extLst>
                    <a:ext uri="{9D8B030D-6E8A-4147-A177-3AD203B41FA5}">
                      <a16:colId xmlns:a16="http://schemas.microsoft.com/office/drawing/2014/main" val="20002"/>
                    </a:ext>
                  </a:extLst>
                </a:gridCol>
                <a:gridCol w="5669217">
                  <a:extLst>
                    <a:ext uri="{9D8B030D-6E8A-4147-A177-3AD203B41FA5}">
                      <a16:colId xmlns:a16="http://schemas.microsoft.com/office/drawing/2014/main" val="20003"/>
                    </a:ext>
                  </a:extLst>
                </a:gridCol>
              </a:tblGrid>
              <a:tr h="1198464">
                <a:tc>
                  <a:txBody>
                    <a:bodyPr/>
                    <a:lstStyle/>
                    <a:p>
                      <a:pPr algn="ctr">
                        <a:lnSpc>
                          <a:spcPts val="2520"/>
                        </a:lnSpc>
                        <a:defRPr/>
                      </a:pPr>
                      <a:r>
                        <a:rPr lang="en-US" sz="1800" b="1">
                          <a:solidFill>
                            <a:srgbClr val="000000"/>
                          </a:solidFill>
                          <a:latin typeface="Canva Sans Bold"/>
                          <a:ea typeface="Canva Sans Bold"/>
                          <a:cs typeface="Canva Sans Bold"/>
                          <a:sym typeface="Canva Sans Bold"/>
                        </a:rPr>
                        <a:t>Indicator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b="1">
                          <a:solidFill>
                            <a:srgbClr val="000000"/>
                          </a:solidFill>
                          <a:latin typeface="Canva Sans Bold"/>
                          <a:ea typeface="Canva Sans Bold"/>
                          <a:cs typeface="Canva Sans Bold"/>
                          <a:sym typeface="Canva Sans Bold"/>
                        </a:rPr>
                        <a:t>Description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b="1">
                          <a:solidFill>
                            <a:srgbClr val="000000"/>
                          </a:solidFill>
                          <a:latin typeface="Canva Sans Bold"/>
                          <a:ea typeface="Canva Sans Bold"/>
                          <a:cs typeface="Canva Sans Bold"/>
                          <a:sym typeface="Canva Sans Bold"/>
                        </a:rPr>
                        <a:t>Measurement/Unit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b="1">
                          <a:solidFill>
                            <a:srgbClr val="000000"/>
                          </a:solidFill>
                          <a:latin typeface="Canva Sans Bold"/>
                          <a:ea typeface="Canva Sans Bold"/>
                          <a:cs typeface="Canva Sans Bold"/>
                          <a:sym typeface="Canva Sans Bold"/>
                        </a:rPr>
                        <a:t>Source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90781">
                <a:tc>
                  <a:txBody>
                    <a:bodyPr/>
                    <a:lstStyle/>
                    <a:p>
                      <a:pPr algn="ctr">
                        <a:lnSpc>
                          <a:spcPts val="2520"/>
                        </a:lnSpc>
                        <a:defRPr/>
                      </a:pPr>
                      <a:r>
                        <a:rPr lang="en-US" sz="1800">
                          <a:solidFill>
                            <a:srgbClr val="000000"/>
                          </a:solidFill>
                          <a:latin typeface="Canva Sans"/>
                          <a:ea typeface="Canva Sans"/>
                          <a:cs typeface="Canva Sans"/>
                          <a:sym typeface="Canva Sans"/>
                        </a:rPr>
                        <a:t>REN (Renewable Energy)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nva Sans"/>
                          <a:ea typeface="Canva Sans"/>
                          <a:cs typeface="Canva Sans"/>
                          <a:sym typeface="Canva Sans"/>
                        </a:rPr>
                        <a:t>Share of renewable energy in total final energy consumption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nva Sans"/>
                          <a:ea typeface="Canva Sans"/>
                          <a:cs typeface="Canva Sans"/>
                          <a:sym typeface="Canva Sans"/>
                        </a:rPr>
                        <a:t>Percentage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nva Sans"/>
                          <a:ea typeface="Canva Sans"/>
                          <a:cs typeface="Canva Sans"/>
                          <a:sym typeface="Canva Sans"/>
                        </a:rPr>
                        <a:t>World Development Indicators (WDI), World Bank (2020)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722285">
                <a:tc>
                  <a:txBody>
                    <a:bodyPr/>
                    <a:lstStyle/>
                    <a:p>
                      <a:pPr algn="ctr">
                        <a:lnSpc>
                          <a:spcPts val="2520"/>
                        </a:lnSpc>
                        <a:defRPr/>
                      </a:pPr>
                      <a:r>
                        <a:rPr lang="en-US" sz="1800">
                          <a:solidFill>
                            <a:srgbClr val="000000"/>
                          </a:solidFill>
                          <a:latin typeface="Canva Sans"/>
                          <a:ea typeface="Canva Sans"/>
                          <a:cs typeface="Canva Sans"/>
                          <a:sym typeface="Canva Sans"/>
                        </a:rPr>
                        <a:t>FD (Financial Development)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nva Sans"/>
                          <a:ea typeface="Canva Sans"/>
                          <a:cs typeface="Canva Sans"/>
                          <a:sym typeface="Canva Sans"/>
                        </a:rPr>
                        <a:t>Composite index reflecting financial institutions and markets in terms of depth, access, and efficiency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nva Sans"/>
                          <a:ea typeface="Canva Sans"/>
                          <a:cs typeface="Canva Sans"/>
                          <a:sym typeface="Canva Sans"/>
                        </a:rPr>
                        <a:t>Index (0 to 1 scale)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nva Sans"/>
                          <a:ea typeface="Canva Sans"/>
                          <a:cs typeface="Canva Sans"/>
                          <a:sym typeface="Canva Sans"/>
                        </a:rPr>
                        <a:t>IMF Financial Statistics Database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90781">
                <a:tc>
                  <a:txBody>
                    <a:bodyPr/>
                    <a:lstStyle/>
                    <a:p>
                      <a:pPr algn="ctr">
                        <a:lnSpc>
                          <a:spcPts val="2520"/>
                        </a:lnSpc>
                        <a:defRPr/>
                      </a:pPr>
                      <a:r>
                        <a:rPr lang="en-US" sz="1800">
                          <a:solidFill>
                            <a:srgbClr val="000000"/>
                          </a:solidFill>
                          <a:latin typeface="Canva Sans"/>
                          <a:ea typeface="Canva Sans"/>
                          <a:cs typeface="Canva Sans"/>
                          <a:sym typeface="Canva Sans"/>
                        </a:rPr>
                        <a:t>INST (Institutional Quality)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nva Sans"/>
                          <a:ea typeface="Canva Sans"/>
                          <a:cs typeface="Canva Sans"/>
                          <a:sym typeface="Canva Sans"/>
                        </a:rPr>
                        <a:t>Composite index measuring corruption control and stability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nva Sans"/>
                          <a:ea typeface="Canva Sans"/>
                          <a:cs typeface="Canva Sans"/>
                          <a:sym typeface="Canva Sans"/>
                        </a:rPr>
                        <a:t>Index (0 to 1 scale)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nva Sans"/>
                          <a:ea typeface="Canva Sans"/>
                          <a:cs typeface="Canva Sans"/>
                          <a:sym typeface="Canva Sans"/>
                        </a:rPr>
                        <a:t>International Country Risk Guide (ICRG)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90781">
                <a:tc>
                  <a:txBody>
                    <a:bodyPr/>
                    <a:lstStyle/>
                    <a:p>
                      <a:pPr algn="ctr">
                        <a:lnSpc>
                          <a:spcPts val="2520"/>
                        </a:lnSpc>
                        <a:defRPr/>
                      </a:pPr>
                      <a:r>
                        <a:rPr lang="en-US" sz="1800">
                          <a:solidFill>
                            <a:srgbClr val="000000"/>
                          </a:solidFill>
                          <a:latin typeface="Canva Sans"/>
                          <a:ea typeface="Canva Sans"/>
                          <a:cs typeface="Canva Sans"/>
                          <a:sym typeface="Canva Sans"/>
                        </a:rPr>
                        <a:t>RGDPPC (GDP per capita)</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nva Sans"/>
                          <a:ea typeface="Canva Sans"/>
                          <a:cs typeface="Canva Sans"/>
                          <a:sym typeface="Canva Sans"/>
                        </a:rPr>
                        <a:t>Economic output per person adjusted for inflation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nva Sans"/>
                          <a:ea typeface="Canva Sans"/>
                          <a:cs typeface="Canva Sans"/>
                          <a:sym typeface="Canva Sans"/>
                        </a:rPr>
                        <a:t>Constant 2015 US dollars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nva Sans"/>
                          <a:ea typeface="Canva Sans"/>
                          <a:cs typeface="Canva Sans"/>
                          <a:sym typeface="Canva Sans"/>
                        </a:rPr>
                        <a:t>WDI, World Bank (2020)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090781">
                <a:tc>
                  <a:txBody>
                    <a:bodyPr/>
                    <a:lstStyle/>
                    <a:p>
                      <a:pPr algn="ctr">
                        <a:lnSpc>
                          <a:spcPts val="2520"/>
                        </a:lnSpc>
                        <a:defRPr/>
                      </a:pPr>
                      <a:r>
                        <a:rPr lang="en-US" sz="1800">
                          <a:solidFill>
                            <a:srgbClr val="000000"/>
                          </a:solidFill>
                          <a:latin typeface="Canva Sans"/>
                          <a:ea typeface="Canva Sans"/>
                          <a:cs typeface="Canva Sans"/>
                          <a:sym typeface="Canva Sans"/>
                        </a:rPr>
                        <a:t>FDI (Foreign Direct Investment)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nva Sans"/>
                          <a:ea typeface="Canva Sans"/>
                          <a:cs typeface="Canva Sans"/>
                          <a:sym typeface="Canva Sans"/>
                        </a:rPr>
                        <a:t>Foreign capital inflow as a share of GDP</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nva Sans"/>
                          <a:ea typeface="Canva Sans"/>
                          <a:cs typeface="Canva Sans"/>
                          <a:sym typeface="Canva Sans"/>
                        </a:rPr>
                        <a:t>Percentage(%) of GDP</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nva Sans"/>
                          <a:ea typeface="Canva Sans"/>
                          <a:cs typeface="Canva Sans"/>
                          <a:sym typeface="Canva Sans"/>
                        </a:rPr>
                        <a:t>WDI, World Bank (2020)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144909">
                <a:tc>
                  <a:txBody>
                    <a:bodyPr/>
                    <a:lstStyle/>
                    <a:p>
                      <a:pPr algn="ctr">
                        <a:lnSpc>
                          <a:spcPts val="2520"/>
                        </a:lnSpc>
                        <a:defRPr/>
                      </a:pPr>
                      <a:r>
                        <a:rPr lang="en-US" sz="1800">
                          <a:solidFill>
                            <a:srgbClr val="000000"/>
                          </a:solidFill>
                          <a:latin typeface="Canva Sans"/>
                          <a:ea typeface="Canva Sans"/>
                          <a:cs typeface="Canva Sans"/>
                          <a:sym typeface="Canva Sans"/>
                        </a:rPr>
                        <a:t>POP (Population)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nva Sans"/>
                          <a:ea typeface="Canva Sans"/>
                          <a:cs typeface="Canva Sans"/>
                          <a:sym typeface="Canva Sans"/>
                        </a:rPr>
                        <a:t>Total population of a country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nva Sans"/>
                          <a:ea typeface="Canva Sans"/>
                          <a:cs typeface="Canva Sans"/>
                          <a:sym typeface="Canva Sans"/>
                        </a:rPr>
                        <a:t>Count (people)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r>
                        <a:rPr lang="en-US" sz="1800">
                          <a:solidFill>
                            <a:srgbClr val="000000"/>
                          </a:solidFill>
                          <a:latin typeface="Canva Sans"/>
                          <a:ea typeface="Canva Sans"/>
                          <a:cs typeface="Canva Sans"/>
                          <a:sym typeface="Canva Sans"/>
                        </a:rPr>
                        <a:t>WDI, World Bank (2020)</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 name="TextBox 3"/>
          <p:cNvSpPr txBox="1"/>
          <p:nvPr/>
        </p:nvSpPr>
        <p:spPr>
          <a:xfrm>
            <a:off x="4266069" y="62554"/>
            <a:ext cx="9755863" cy="1837042"/>
          </a:xfrm>
          <a:prstGeom prst="rect">
            <a:avLst/>
          </a:prstGeom>
        </p:spPr>
        <p:txBody>
          <a:bodyPr lIns="0" tIns="0" rIns="0" bIns="0" rtlCol="0" anchor="t">
            <a:spAutoFit/>
          </a:bodyPr>
          <a:lstStyle/>
          <a:p>
            <a:pPr algn="ctr">
              <a:lnSpc>
                <a:spcPts val="7280"/>
              </a:lnSpc>
            </a:pPr>
            <a:r>
              <a:rPr lang="en-US" sz="5200" b="1">
                <a:solidFill>
                  <a:srgbClr val="000000"/>
                </a:solidFill>
                <a:latin typeface="Canva Sans Bold"/>
                <a:ea typeface="Canva Sans Bold"/>
                <a:cs typeface="Canva Sans Bold"/>
                <a:sym typeface="Canva Sans Bold"/>
              </a:rPr>
              <a:t>Sources of Data and Variables</a:t>
            </a:r>
          </a:p>
          <a:p>
            <a:pPr algn="ctr">
              <a:lnSpc>
                <a:spcPts val="7560"/>
              </a:lnSpc>
            </a:pPr>
            <a:endParaRPr lang="en-US" sz="5200" b="1">
              <a:solidFill>
                <a:srgbClr val="000000"/>
              </a:solidFill>
              <a:latin typeface="Canva Sans Bold"/>
              <a:ea typeface="Canva Sans Bold"/>
              <a:cs typeface="Canva Sans Bold"/>
              <a:sym typeface="Canva Sans Bold"/>
            </a:endParaRPr>
          </a:p>
        </p:txBody>
      </p:sp>
      <p:sp>
        <p:nvSpPr>
          <p:cNvPr id="4" name="TextBox 4"/>
          <p:cNvSpPr txBox="1"/>
          <p:nvPr/>
        </p:nvSpPr>
        <p:spPr>
          <a:xfrm>
            <a:off x="2057400" y="1257299"/>
            <a:ext cx="13712091" cy="383951"/>
          </a:xfrm>
          <a:prstGeom prst="rect">
            <a:avLst/>
          </a:prstGeom>
        </p:spPr>
        <p:txBody>
          <a:bodyPr wrap="square" lIns="0" tIns="0" rIns="0" bIns="0" rtlCol="0" anchor="t">
            <a:spAutoFit/>
          </a:bodyPr>
          <a:lstStyle/>
          <a:p>
            <a:pPr algn="ctr">
              <a:lnSpc>
                <a:spcPts val="3220"/>
              </a:lnSpc>
              <a:spcBef>
                <a:spcPct val="0"/>
              </a:spcBef>
            </a:pPr>
            <a:r>
              <a:rPr lang="en-US" sz="2300" b="1" dirty="0">
                <a:solidFill>
                  <a:srgbClr val="000000"/>
                </a:solidFill>
                <a:latin typeface="Canva Sans Bold"/>
                <a:ea typeface="Canva Sans Bold"/>
                <a:cs typeface="Canva Sans Bold"/>
                <a:sym typeface="Canva Sans Bold"/>
              </a:rPr>
              <a:t>The panel dataset spans 22 years (2000–2021) and includes 27 lower-middle-income economies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0" y="0"/>
          <a:ext cx="18288000" cy="10287000"/>
        </p:xfrm>
        <a:graphic>
          <a:graphicData uri="http://schemas.openxmlformats.org/drawingml/2006/table">
            <a:tbl>
              <a:tblPr/>
              <a:tblGrid>
                <a:gridCol w="2092233">
                  <a:extLst>
                    <a:ext uri="{9D8B030D-6E8A-4147-A177-3AD203B41FA5}">
                      <a16:colId xmlns:a16="http://schemas.microsoft.com/office/drawing/2014/main" val="20000"/>
                    </a:ext>
                  </a:extLst>
                </a:gridCol>
                <a:gridCol w="7039563">
                  <a:extLst>
                    <a:ext uri="{9D8B030D-6E8A-4147-A177-3AD203B41FA5}">
                      <a16:colId xmlns:a16="http://schemas.microsoft.com/office/drawing/2014/main" val="20001"/>
                    </a:ext>
                  </a:extLst>
                </a:gridCol>
                <a:gridCol w="9156204">
                  <a:extLst>
                    <a:ext uri="{9D8B030D-6E8A-4147-A177-3AD203B41FA5}">
                      <a16:colId xmlns:a16="http://schemas.microsoft.com/office/drawing/2014/main" val="20002"/>
                    </a:ext>
                  </a:extLst>
                </a:gridCol>
              </a:tblGrid>
              <a:tr h="448506">
                <a:tc>
                  <a:txBody>
                    <a:bodyPr/>
                    <a:lstStyle/>
                    <a:p>
                      <a:pPr algn="l">
                        <a:lnSpc>
                          <a:spcPts val="1931"/>
                        </a:lnSpc>
                        <a:defRPr/>
                      </a:pPr>
                      <a:r>
                        <a:rPr lang="en-US" sz="1399" b="1">
                          <a:solidFill>
                            <a:srgbClr val="000000"/>
                          </a:solidFill>
                          <a:latin typeface="Canva Sans Bold"/>
                          <a:ea typeface="Canva Sans Bold"/>
                          <a:cs typeface="Canva Sans Bold"/>
                          <a:sym typeface="Canva Sans Bold"/>
                        </a:rPr>
                        <a:t>Table Number</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Test/Estimation Method</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Description</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48506">
                <a:tc>
                  <a:txBody>
                    <a:bodyPr/>
                    <a:lstStyle/>
                    <a:p>
                      <a:pPr algn="l">
                        <a:lnSpc>
                          <a:spcPts val="1931"/>
                        </a:lnSpc>
                        <a:defRPr/>
                      </a:pPr>
                      <a:r>
                        <a:rPr lang="en-US" sz="1399" b="1">
                          <a:solidFill>
                            <a:srgbClr val="000000"/>
                          </a:solidFill>
                          <a:latin typeface="Canva Sans Bold"/>
                          <a:ea typeface="Canva Sans Bold"/>
                          <a:cs typeface="Canva Sans Bold"/>
                          <a:sym typeface="Canva Sans Bold"/>
                        </a:rPr>
                        <a:t>5</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Variance Inflation Factor (VIF) Test</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Detects multicollinearity among explanatory variables.</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82800">
                <a:tc>
                  <a:txBody>
                    <a:bodyPr/>
                    <a:lstStyle/>
                    <a:p>
                      <a:pPr algn="l">
                        <a:lnSpc>
                          <a:spcPts val="1931"/>
                        </a:lnSpc>
                        <a:defRPr/>
                      </a:pPr>
                      <a:r>
                        <a:rPr lang="en-US" sz="1399" b="1">
                          <a:solidFill>
                            <a:srgbClr val="000000"/>
                          </a:solidFill>
                          <a:latin typeface="Canva Sans Bold"/>
                          <a:ea typeface="Canva Sans Bold"/>
                          <a:cs typeface="Canva Sans Bold"/>
                          <a:sym typeface="Canva Sans Bold"/>
                        </a:rPr>
                        <a:t>6</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Pesaran’s CD Test (in series)</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Tests for cross-sectional dependence in panel data series.</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75413">
                <a:tc>
                  <a:txBody>
                    <a:bodyPr/>
                    <a:lstStyle/>
                    <a:p>
                      <a:pPr algn="l">
                        <a:lnSpc>
                          <a:spcPts val="1931"/>
                        </a:lnSpc>
                        <a:defRPr/>
                      </a:pPr>
                      <a:r>
                        <a:rPr lang="en-US" sz="1399" b="1">
                          <a:solidFill>
                            <a:srgbClr val="000000"/>
                          </a:solidFill>
                          <a:latin typeface="Canva Sans Bold"/>
                          <a:ea typeface="Canva Sans Bold"/>
                          <a:cs typeface="Canva Sans Bold"/>
                          <a:sym typeface="Canva Sans Bold"/>
                        </a:rPr>
                        <a:t>7</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Regression-Based CD Tests (Pesaran LM, Frees, Friedman)</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Tests for cross-sectional dependence in panel regression residuals.</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98124">
                <a:tc>
                  <a:txBody>
                    <a:bodyPr/>
                    <a:lstStyle/>
                    <a:p>
                      <a:pPr algn="l">
                        <a:lnSpc>
                          <a:spcPts val="1931"/>
                        </a:lnSpc>
                        <a:defRPr/>
                      </a:pPr>
                      <a:r>
                        <a:rPr lang="en-US" sz="1399" b="1">
                          <a:solidFill>
                            <a:srgbClr val="000000"/>
                          </a:solidFill>
                          <a:latin typeface="Canva Sans Bold"/>
                          <a:ea typeface="Canva Sans Bold"/>
                          <a:cs typeface="Canva Sans Bold"/>
                          <a:sym typeface="Canva Sans Bold"/>
                        </a:rPr>
                        <a:t>8</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Pesaran–Yamagata Slope Homogeneity Test</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Tests whether slope coefficients are homogeneous across cross-sections.</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30317">
                <a:tc>
                  <a:txBody>
                    <a:bodyPr/>
                    <a:lstStyle/>
                    <a:p>
                      <a:pPr algn="l">
                        <a:lnSpc>
                          <a:spcPts val="1931"/>
                        </a:lnSpc>
                        <a:defRPr/>
                      </a:pPr>
                      <a:r>
                        <a:rPr lang="en-US" sz="1399" b="1">
                          <a:solidFill>
                            <a:srgbClr val="000000"/>
                          </a:solidFill>
                          <a:latin typeface="Canva Sans Bold"/>
                          <a:ea typeface="Canva Sans Bold"/>
                          <a:cs typeface="Canva Sans Bold"/>
                          <a:sym typeface="Canva Sans Bold"/>
                        </a:rPr>
                        <a:t>9</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CIPS Unit Root Test (Intercept Only)</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Tests for stationarity (unit roots) at level and first difference,</a:t>
                      </a:r>
                      <a:endParaRPr lang="en-US" sz="1100"/>
                    </a:p>
                    <a:p>
                      <a:pPr algn="l">
                        <a:lnSpc>
                          <a:spcPts val="1931"/>
                        </a:lnSpc>
                      </a:pPr>
                      <a:r>
                        <a:rPr lang="en-US" sz="1399" b="1">
                          <a:solidFill>
                            <a:srgbClr val="000000"/>
                          </a:solidFill>
                          <a:latin typeface="Canva Sans Bold"/>
                          <a:ea typeface="Canva Sans Bold"/>
                          <a:cs typeface="Canva Sans Bold"/>
                          <a:sym typeface="Canva Sans Bold"/>
                        </a:rPr>
                        <a:t>  without deterministic trend.</a:t>
                      </a:r>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46855">
                <a:tc>
                  <a:txBody>
                    <a:bodyPr/>
                    <a:lstStyle/>
                    <a:p>
                      <a:pPr algn="l">
                        <a:lnSpc>
                          <a:spcPts val="1931"/>
                        </a:lnSpc>
                        <a:defRPr/>
                      </a:pPr>
                      <a:r>
                        <a:rPr lang="en-US" sz="1399" b="1">
                          <a:solidFill>
                            <a:srgbClr val="000000"/>
                          </a:solidFill>
                          <a:latin typeface="Canva Sans Bold"/>
                          <a:ea typeface="Canva Sans Bold"/>
                          <a:cs typeface="Canva Sans Bold"/>
                          <a:sym typeface="Canva Sans Bold"/>
                        </a:rPr>
                        <a:t>10</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CIPS Unit Root Test (Intercept and Trend)</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Same as Table 9, but includes deterministic trend.</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99847">
                <a:tc>
                  <a:txBody>
                    <a:bodyPr/>
                    <a:lstStyle/>
                    <a:p>
                      <a:pPr algn="l">
                        <a:lnSpc>
                          <a:spcPts val="1931"/>
                        </a:lnSpc>
                        <a:defRPr/>
                      </a:pPr>
                      <a:r>
                        <a:rPr lang="en-US" sz="1399" b="1">
                          <a:solidFill>
                            <a:srgbClr val="000000"/>
                          </a:solidFill>
                          <a:latin typeface="Canva Sans Bold"/>
                          <a:ea typeface="Canva Sans Bold"/>
                          <a:cs typeface="Canva Sans Bold"/>
                          <a:sym typeface="Canva Sans Bold"/>
                        </a:rPr>
                        <a:t>11</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Westerlund ECM Panel Cointegration Test</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Tests for long-run relationships using an error correction framework,</a:t>
                      </a:r>
                      <a:endParaRPr lang="en-US" sz="1100"/>
                    </a:p>
                    <a:p>
                      <a:pPr algn="l">
                        <a:lnSpc>
                          <a:spcPts val="1931"/>
                        </a:lnSpc>
                      </a:pPr>
                      <a:r>
                        <a:rPr lang="en-US" sz="1399" b="1">
                          <a:solidFill>
                            <a:srgbClr val="000000"/>
                          </a:solidFill>
                          <a:latin typeface="Canva Sans Bold"/>
                          <a:ea typeface="Canva Sans Bold"/>
                          <a:cs typeface="Canva Sans Bold"/>
                          <a:sym typeface="Canva Sans Bold"/>
                        </a:rPr>
                        <a:t>  accounting for cross-dependence.</a:t>
                      </a:r>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652036">
                <a:tc>
                  <a:txBody>
                    <a:bodyPr/>
                    <a:lstStyle/>
                    <a:p>
                      <a:pPr algn="l">
                        <a:lnSpc>
                          <a:spcPts val="1931"/>
                        </a:lnSpc>
                        <a:defRPr/>
                      </a:pPr>
                      <a:r>
                        <a:rPr lang="en-US" sz="1399" b="1">
                          <a:solidFill>
                            <a:srgbClr val="000000"/>
                          </a:solidFill>
                          <a:latin typeface="Canva Sans Bold"/>
                          <a:ea typeface="Canva Sans Bold"/>
                          <a:cs typeface="Canva Sans Bold"/>
                          <a:sym typeface="Canva Sans Bold"/>
                        </a:rPr>
                        <a:t>12</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Kao Cointegration Test</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Tests for cointegration in panel data assuming homogeneity.</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628004">
                <a:tc>
                  <a:txBody>
                    <a:bodyPr/>
                    <a:lstStyle/>
                    <a:p>
                      <a:pPr algn="l">
                        <a:lnSpc>
                          <a:spcPts val="1931"/>
                        </a:lnSpc>
                        <a:defRPr/>
                      </a:pPr>
                      <a:r>
                        <a:rPr lang="en-US" sz="1399" b="1">
                          <a:solidFill>
                            <a:srgbClr val="000000"/>
                          </a:solidFill>
                          <a:latin typeface="Canva Sans Bold"/>
                          <a:ea typeface="Canva Sans Bold"/>
                          <a:cs typeface="Canva Sans Bold"/>
                          <a:sym typeface="Canva Sans Bold"/>
                        </a:rPr>
                        <a:t>13</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System GMM Estimation (w/ and w/o interaction term)</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Controls for endogeneity and dynamics using lagged instruments.</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448506">
                <a:tc>
                  <a:txBody>
                    <a:bodyPr/>
                    <a:lstStyle/>
                    <a:p>
                      <a:pPr algn="l">
                        <a:lnSpc>
                          <a:spcPts val="1931"/>
                        </a:lnSpc>
                        <a:defRPr/>
                      </a:pPr>
                      <a:r>
                        <a:rPr lang="en-US" sz="1399" b="1">
                          <a:solidFill>
                            <a:srgbClr val="000000"/>
                          </a:solidFill>
                          <a:latin typeface="Canva Sans Bold"/>
                          <a:ea typeface="Canva Sans Bold"/>
                          <a:cs typeface="Canva Sans Bold"/>
                          <a:sym typeface="Canva Sans Bold"/>
                        </a:rPr>
                        <a:t>13</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Driscoll–Kraay Estimator</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Robust to heteroskedasticity, autocorrelation, and cross-sectional  dependence.</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687072">
                <a:tc>
                  <a:txBody>
                    <a:bodyPr/>
                    <a:lstStyle/>
                    <a:p>
                      <a:pPr algn="l">
                        <a:lnSpc>
                          <a:spcPts val="1931"/>
                        </a:lnSpc>
                        <a:defRPr/>
                      </a:pPr>
                      <a:r>
                        <a:rPr lang="en-US" sz="1399" b="1">
                          <a:solidFill>
                            <a:srgbClr val="000000"/>
                          </a:solidFill>
                          <a:latin typeface="Canva Sans Bold"/>
                          <a:ea typeface="Canva Sans Bold"/>
                          <a:cs typeface="Canva Sans Bold"/>
                          <a:sym typeface="Canva Sans Bold"/>
                        </a:rPr>
                        <a:t>14</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FMOLS and DOLS Estimators</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Panel cointegration estimators accounting for serial correlation and</a:t>
                      </a:r>
                      <a:endParaRPr lang="en-US" sz="1100"/>
                    </a:p>
                    <a:p>
                      <a:pPr algn="l">
                        <a:lnSpc>
                          <a:spcPts val="1931"/>
                        </a:lnSpc>
                      </a:pPr>
                      <a:r>
                        <a:rPr lang="en-US" sz="1399" b="1">
                          <a:solidFill>
                            <a:srgbClr val="000000"/>
                          </a:solidFill>
                          <a:latin typeface="Canva Sans Bold"/>
                          <a:ea typeface="Canva Sans Bold"/>
                          <a:cs typeface="Canva Sans Bold"/>
                          <a:sym typeface="Canva Sans Bold"/>
                        </a:rPr>
                        <a:t>  endogeneity.</a:t>
                      </a:r>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514000">
                <a:tc>
                  <a:txBody>
                    <a:bodyPr/>
                    <a:lstStyle/>
                    <a:p>
                      <a:pPr algn="l">
                        <a:lnSpc>
                          <a:spcPts val="1931"/>
                        </a:lnSpc>
                        <a:defRPr/>
                      </a:pPr>
                      <a:r>
                        <a:rPr lang="en-US" sz="1399" b="1">
                          <a:solidFill>
                            <a:srgbClr val="000000"/>
                          </a:solidFill>
                          <a:latin typeface="Canva Sans Bold"/>
                          <a:ea typeface="Canva Sans Bold"/>
                          <a:cs typeface="Canva Sans Bold"/>
                          <a:sym typeface="Canva Sans Bold"/>
                        </a:rPr>
                        <a:t>15</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Pooled Mean Group (PMG) Estimator</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Allows short-run heterogeneity and long-run homogeneity across units.</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518895">
                <a:tc>
                  <a:txBody>
                    <a:bodyPr/>
                    <a:lstStyle/>
                    <a:p>
                      <a:pPr algn="l">
                        <a:lnSpc>
                          <a:spcPts val="1931"/>
                        </a:lnSpc>
                        <a:defRPr/>
                      </a:pPr>
                      <a:r>
                        <a:rPr lang="en-US" sz="1399" b="1">
                          <a:solidFill>
                            <a:srgbClr val="000000"/>
                          </a:solidFill>
                          <a:latin typeface="Canva Sans Bold"/>
                          <a:ea typeface="Canva Sans Bold"/>
                          <a:cs typeface="Canva Sans Bold"/>
                          <a:sym typeface="Canva Sans Bold"/>
                        </a:rPr>
                        <a:t>15</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Augmented Mean Group (AMG) Estimator</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Accounts for cross-sectional dependence and heterogeneity.</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575110">
                <a:tc>
                  <a:txBody>
                    <a:bodyPr/>
                    <a:lstStyle/>
                    <a:p>
                      <a:pPr algn="l">
                        <a:lnSpc>
                          <a:spcPts val="1931"/>
                        </a:lnSpc>
                        <a:defRPr/>
                      </a:pPr>
                      <a:r>
                        <a:rPr lang="en-US" sz="1399" b="1">
                          <a:solidFill>
                            <a:srgbClr val="000000"/>
                          </a:solidFill>
                          <a:latin typeface="Canva Sans Bold"/>
                          <a:ea typeface="Canva Sans Bold"/>
                          <a:cs typeface="Canva Sans Bold"/>
                          <a:sym typeface="Canva Sans Bold"/>
                        </a:rPr>
                        <a:t>15</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Common Correlated Effects Mean Group (CCEMG) Estimator</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Handles unobserved common factors in panel regressions.</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511943">
                <a:tc>
                  <a:txBody>
                    <a:bodyPr/>
                    <a:lstStyle/>
                    <a:p>
                      <a:pPr algn="l">
                        <a:lnSpc>
                          <a:spcPts val="1931"/>
                        </a:lnSpc>
                        <a:defRPr/>
                      </a:pPr>
                      <a:r>
                        <a:rPr lang="en-US" sz="1399" b="1">
                          <a:solidFill>
                            <a:srgbClr val="000000"/>
                          </a:solidFill>
                          <a:latin typeface="Canva Sans Bold"/>
                          <a:ea typeface="Canva Sans Bold"/>
                          <a:cs typeface="Canva Sans Bold"/>
                          <a:sym typeface="Canva Sans Bold"/>
                        </a:rPr>
                        <a:t>16</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Panel Threshold Regression</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Tests for nonlinear effects in the finance-renewable energy relationship.</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448506">
                <a:tc>
                  <a:txBody>
                    <a:bodyPr/>
                    <a:lstStyle/>
                    <a:p>
                      <a:pPr algn="l">
                        <a:lnSpc>
                          <a:spcPts val="1931"/>
                        </a:lnSpc>
                        <a:defRPr/>
                      </a:pPr>
                      <a:r>
                        <a:rPr lang="en-US" sz="1399" b="1">
                          <a:solidFill>
                            <a:srgbClr val="000000"/>
                          </a:solidFill>
                          <a:latin typeface="Canva Sans Bold"/>
                          <a:ea typeface="Canva Sans Bold"/>
                          <a:cs typeface="Canva Sans Bold"/>
                          <a:sym typeface="Canva Sans Bold"/>
                        </a:rPr>
                        <a:t>16</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Threshold Effect Test (Bootstrap)</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Assesses significance of identified thresholds using bootstrap methods.</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572560">
                <a:tc>
                  <a:txBody>
                    <a:bodyPr/>
                    <a:lstStyle/>
                    <a:p>
                      <a:pPr algn="l">
                        <a:lnSpc>
                          <a:spcPts val="1931"/>
                        </a:lnSpc>
                        <a:defRPr/>
                      </a:pPr>
                      <a:r>
                        <a:rPr lang="en-US" sz="1399" b="1">
                          <a:solidFill>
                            <a:srgbClr val="000000"/>
                          </a:solidFill>
                          <a:latin typeface="Canva Sans Bold"/>
                          <a:ea typeface="Canva Sans Bold"/>
                          <a:cs typeface="Canva Sans Bold"/>
                          <a:sym typeface="Canva Sans Bold"/>
                        </a:rPr>
                        <a:t>16</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Fixed-Effects Threshold Regression</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1931"/>
                        </a:lnSpc>
                        <a:defRPr/>
                      </a:pPr>
                      <a:r>
                        <a:rPr lang="en-US" sz="1399" b="1">
                          <a:solidFill>
                            <a:srgbClr val="000000"/>
                          </a:solidFill>
                          <a:latin typeface="Canva Sans Bold"/>
                          <a:ea typeface="Canva Sans Bold"/>
                          <a:cs typeface="Canva Sans Bold"/>
                          <a:sym typeface="Canva Sans Bold"/>
                        </a:rPr>
                        <a:t>Estimates effects within countries across different threshold regimes.</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0" y="0"/>
          <a:ext cx="18342169" cy="10286999"/>
        </p:xfrm>
        <a:graphic>
          <a:graphicData uri="http://schemas.openxmlformats.org/drawingml/2006/table">
            <a:tbl>
              <a:tblPr/>
              <a:tblGrid>
                <a:gridCol w="4851652">
                  <a:extLst>
                    <a:ext uri="{9D8B030D-6E8A-4147-A177-3AD203B41FA5}">
                      <a16:colId xmlns:a16="http://schemas.microsoft.com/office/drawing/2014/main" val="20000"/>
                    </a:ext>
                  </a:extLst>
                </a:gridCol>
                <a:gridCol w="4688339">
                  <a:extLst>
                    <a:ext uri="{9D8B030D-6E8A-4147-A177-3AD203B41FA5}">
                      <a16:colId xmlns:a16="http://schemas.microsoft.com/office/drawing/2014/main" val="20001"/>
                    </a:ext>
                  </a:extLst>
                </a:gridCol>
                <a:gridCol w="4280930">
                  <a:extLst>
                    <a:ext uri="{9D8B030D-6E8A-4147-A177-3AD203B41FA5}">
                      <a16:colId xmlns:a16="http://schemas.microsoft.com/office/drawing/2014/main" val="20002"/>
                    </a:ext>
                  </a:extLst>
                </a:gridCol>
                <a:gridCol w="4521248">
                  <a:extLst>
                    <a:ext uri="{9D8B030D-6E8A-4147-A177-3AD203B41FA5}">
                      <a16:colId xmlns:a16="http://schemas.microsoft.com/office/drawing/2014/main" val="20003"/>
                    </a:ext>
                  </a:extLst>
                </a:gridCol>
              </a:tblGrid>
              <a:tr h="1010586">
                <a:tc>
                  <a:txBody>
                    <a:bodyPr/>
                    <a:lstStyle/>
                    <a:p>
                      <a:pPr algn="ctr">
                        <a:lnSpc>
                          <a:spcPts val="4200"/>
                        </a:lnSpc>
                        <a:defRPr/>
                      </a:pPr>
                      <a:r>
                        <a:rPr lang="en-US" sz="3000" b="1">
                          <a:solidFill>
                            <a:srgbClr val="000000"/>
                          </a:solidFill>
                          <a:latin typeface="IBM Plex Sans Bold"/>
                          <a:ea typeface="IBM Plex Sans Bold"/>
                          <a:cs typeface="IBM Plex Sans Bold"/>
                          <a:sym typeface="IBM Plex Sans Bold"/>
                        </a:rPr>
                        <a:t>Table</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0CC0DF"/>
                    </a:solidFill>
                  </a:tcPr>
                </a:tc>
                <a:tc>
                  <a:txBody>
                    <a:bodyPr/>
                    <a:lstStyle/>
                    <a:p>
                      <a:pPr algn="ctr">
                        <a:lnSpc>
                          <a:spcPts val="4200"/>
                        </a:lnSpc>
                        <a:defRPr/>
                      </a:pPr>
                      <a:r>
                        <a:rPr lang="en-US" sz="3000" b="1">
                          <a:solidFill>
                            <a:srgbClr val="000000"/>
                          </a:solidFill>
                          <a:latin typeface="IBM Plex Sans Bold"/>
                          <a:ea typeface="IBM Plex Sans Bold"/>
                          <a:cs typeface="IBM Plex Sans Bold"/>
                          <a:sym typeface="IBM Plex Sans Bold"/>
                        </a:rPr>
                        <a:t>Methodology</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0CC0DF"/>
                    </a:solidFill>
                  </a:tcPr>
                </a:tc>
                <a:tc>
                  <a:txBody>
                    <a:bodyPr/>
                    <a:lstStyle/>
                    <a:p>
                      <a:pPr algn="ctr">
                        <a:lnSpc>
                          <a:spcPts val="4200"/>
                        </a:lnSpc>
                        <a:defRPr/>
                      </a:pPr>
                      <a:r>
                        <a:rPr lang="en-US" sz="3000" b="1">
                          <a:solidFill>
                            <a:srgbClr val="000000"/>
                          </a:solidFill>
                          <a:latin typeface="IBM Plex Sans Bold"/>
                          <a:ea typeface="IBM Plex Sans Bold"/>
                          <a:cs typeface="IBM Plex Sans Bold"/>
                          <a:sym typeface="IBM Plex Sans Bold"/>
                        </a:rPr>
                        <a:t>Key Observations</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0CC0DF"/>
                    </a:solidFill>
                  </a:tcPr>
                </a:tc>
                <a:tc>
                  <a:txBody>
                    <a:bodyPr/>
                    <a:lstStyle/>
                    <a:p>
                      <a:pPr algn="ctr">
                        <a:lnSpc>
                          <a:spcPts val="4200"/>
                        </a:lnSpc>
                        <a:defRPr/>
                      </a:pPr>
                      <a:r>
                        <a:rPr lang="en-US" sz="3000" b="1">
                          <a:solidFill>
                            <a:srgbClr val="000000"/>
                          </a:solidFill>
                          <a:latin typeface="IBM Plex Sans Bold"/>
                          <a:ea typeface="IBM Plex Sans Bold"/>
                          <a:cs typeface="IBM Plex Sans Bold"/>
                          <a:sym typeface="IBM Plex Sans Bold"/>
                        </a:rPr>
                        <a:t>Interpretation</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0CC0DF"/>
                    </a:solidFill>
                  </a:tcPr>
                </a:tc>
                <a:extLst>
                  <a:ext uri="{0D108BD9-81ED-4DB2-BD59-A6C34878D82A}">
                    <a16:rowId xmlns:a16="http://schemas.microsoft.com/office/drawing/2014/main" val="10000"/>
                  </a:ext>
                </a:extLst>
              </a:tr>
              <a:tr h="3439910">
                <a:tc>
                  <a:txBody>
                    <a:bodyPr/>
                    <a:lstStyle/>
                    <a:p>
                      <a:pPr algn="l">
                        <a:lnSpc>
                          <a:spcPts val="2981"/>
                        </a:lnSpc>
                        <a:defRPr/>
                      </a:pPr>
                      <a:r>
                        <a:rPr lang="en-US" sz="2129" b="1">
                          <a:solidFill>
                            <a:srgbClr val="191918"/>
                          </a:solidFill>
                          <a:latin typeface="IBM Plex Sans Bold"/>
                          <a:ea typeface="IBM Plex Sans Bold"/>
                          <a:cs typeface="IBM Plex Sans Bold"/>
                          <a:sym typeface="IBM Plex Sans Bold"/>
                        </a:rPr>
                        <a:t>5. VIF (Multicollinearity)</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Variance Inflation Factor (VIF) analysis on regression: renew = f(fd, inst, fd_inst, lrgdppc, fdi, lpop)</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fd_inst: VIF = 54.71</a:t>
                      </a:r>
                      <a:endParaRPr lang="en-US" sz="1100"/>
                    </a:p>
                    <a:p>
                      <a:pPr algn="l">
                        <a:lnSpc>
                          <a:spcPts val="2981"/>
                        </a:lnSpc>
                      </a:pPr>
                      <a:r>
                        <a:rPr lang="en-US" sz="2129">
                          <a:solidFill>
                            <a:srgbClr val="191918"/>
                          </a:solidFill>
                          <a:latin typeface="IBM Plex Sans"/>
                          <a:ea typeface="IBM Plex Sans"/>
                          <a:cs typeface="IBM Plex Sans"/>
                          <a:sym typeface="IBM Plex Sans"/>
                        </a:rPr>
                        <a:t>fd: VIF = 47.62</a:t>
                      </a:r>
                    </a:p>
                    <a:p>
                      <a:pPr algn="l">
                        <a:lnSpc>
                          <a:spcPts val="2981"/>
                        </a:lnSpc>
                      </a:pPr>
                      <a:r>
                        <a:rPr lang="en-US" sz="2129">
                          <a:solidFill>
                            <a:srgbClr val="191918"/>
                          </a:solidFill>
                          <a:latin typeface="IBM Plex Sans"/>
                          <a:ea typeface="IBM Plex Sans"/>
                          <a:cs typeface="IBM Plex Sans"/>
                          <a:sym typeface="IBM Plex Sans"/>
                        </a:rPr>
                        <a:t>inst: 3.94</a:t>
                      </a:r>
                    </a:p>
                    <a:p>
                      <a:pPr algn="l">
                        <a:lnSpc>
                          <a:spcPts val="2981"/>
                        </a:lnSpc>
                      </a:pPr>
                      <a:r>
                        <a:rPr lang="en-US" sz="2129">
                          <a:solidFill>
                            <a:srgbClr val="191918"/>
                          </a:solidFill>
                          <a:latin typeface="IBM Plex Sans"/>
                          <a:ea typeface="IBM Plex Sans"/>
                          <a:cs typeface="IBM Plex Sans"/>
                          <a:sym typeface="IBM Plex Sans"/>
                        </a:rPr>
                        <a:t>Mean VIF: 18.67</a:t>
                      </a:r>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1679"/>
                        </a:lnSpc>
                        <a:defRPr/>
                      </a:pPr>
                      <a:endParaRPr lang="en-US" sz="1100"/>
                    </a:p>
                    <a:p>
                      <a:pPr algn="l">
                        <a:lnSpc>
                          <a:spcPts val="2981"/>
                        </a:lnSpc>
                      </a:pPr>
                      <a:r>
                        <a:rPr lang="en-US" sz="2129">
                          <a:solidFill>
                            <a:srgbClr val="191918"/>
                          </a:solidFill>
                          <a:latin typeface="IBM Plex Sans"/>
                          <a:ea typeface="IBM Plex Sans"/>
                          <a:cs typeface="IBM Plex Sans"/>
                          <a:sym typeface="IBM Plex Sans"/>
                        </a:rPr>
                        <a:t>Severe multicollinearity between fd and fd_inst; inflates standard errors</a:t>
                      </a:r>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extLst>
                  <a:ext uri="{0D108BD9-81ED-4DB2-BD59-A6C34878D82A}">
                    <a16:rowId xmlns:a16="http://schemas.microsoft.com/office/drawing/2014/main" val="10001"/>
                  </a:ext>
                </a:extLst>
              </a:tr>
              <a:tr h="3142339">
                <a:tc>
                  <a:txBody>
                    <a:bodyPr/>
                    <a:lstStyle/>
                    <a:p>
                      <a:pPr algn="l">
                        <a:lnSpc>
                          <a:spcPts val="2981"/>
                        </a:lnSpc>
                        <a:defRPr/>
                      </a:pPr>
                      <a:r>
                        <a:rPr lang="en-US" sz="2129" b="1">
                          <a:solidFill>
                            <a:srgbClr val="191918"/>
                          </a:solidFill>
                          <a:latin typeface="IBM Plex Sans Bold"/>
                          <a:ea typeface="IBM Plex Sans Bold"/>
                          <a:cs typeface="IBM Plex Sans Bold"/>
                          <a:sym typeface="IBM Plex Sans Bold"/>
                        </a:rPr>
                        <a:t>6. Cross-Sectional Dependence</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Pesaran’s CD test, Frees’ Q, Friedman’s test on regression residuals</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 Significant CD for renew, fd, inst, fd_inst, lrgdppc, fdi (p &lt; 0.01)- lpop not significant</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Strong cross-sectional dependence in most variables</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extLst>
                  <a:ext uri="{0D108BD9-81ED-4DB2-BD59-A6C34878D82A}">
                    <a16:rowId xmlns:a16="http://schemas.microsoft.com/office/drawing/2014/main" val="10002"/>
                  </a:ext>
                </a:extLst>
              </a:tr>
              <a:tr h="2694164">
                <a:tc>
                  <a:txBody>
                    <a:bodyPr/>
                    <a:lstStyle/>
                    <a:p>
                      <a:pPr algn="l">
                        <a:lnSpc>
                          <a:spcPts val="2981"/>
                        </a:lnSpc>
                        <a:defRPr/>
                      </a:pPr>
                      <a:r>
                        <a:rPr lang="en-US" sz="2129" b="1">
                          <a:solidFill>
                            <a:srgbClr val="191918"/>
                          </a:solidFill>
                          <a:latin typeface="IBM Plex Sans Bold"/>
                          <a:ea typeface="IBM Plex Sans Bold"/>
                          <a:cs typeface="IBM Plex Sans Bold"/>
                          <a:sym typeface="IBM Plex Sans Bold"/>
                        </a:rPr>
                        <a:t>7. Regression CD &amp; Slope Homogeneity</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Random-effects GLS regression; Pesaran-Yamagata test for slope homogeneity</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Within R² = 0.6335</a:t>
                      </a:r>
                      <a:endParaRPr lang="en-US" sz="1100"/>
                    </a:p>
                    <a:p>
                      <a:pPr algn="l">
                        <a:lnSpc>
                          <a:spcPts val="2981"/>
                        </a:lnSpc>
                      </a:pPr>
                      <a:r>
                        <a:rPr lang="en-US" sz="2129">
                          <a:solidFill>
                            <a:srgbClr val="191918"/>
                          </a:solidFill>
                          <a:latin typeface="IBM Plex Sans"/>
                          <a:ea typeface="IBM Plex Sans"/>
                          <a:cs typeface="IBM Plex Sans"/>
                          <a:sym typeface="IBM Plex Sans"/>
                        </a:rPr>
                        <a:t>INST: -19.06</a:t>
                      </a:r>
                    </a:p>
                    <a:p>
                      <a:pPr algn="l">
                        <a:lnSpc>
                          <a:spcPts val="2981"/>
                        </a:lnSpc>
                      </a:pPr>
                      <a:r>
                        <a:rPr lang="en-US" sz="2129">
                          <a:solidFill>
                            <a:srgbClr val="191918"/>
                          </a:solidFill>
                          <a:latin typeface="IBM Plex Sans"/>
                          <a:ea typeface="IBM Plex Sans"/>
                          <a:cs typeface="IBM Plex Sans"/>
                          <a:sym typeface="IBM Plex Sans"/>
                        </a:rPr>
                        <a:t>Slope heterogeneity confirmed </a:t>
                      </a:r>
                    </a:p>
                    <a:p>
                      <a:pPr algn="l">
                        <a:lnSpc>
                          <a:spcPts val="2981"/>
                        </a:lnSpc>
                      </a:pPr>
                      <a:r>
                        <a:rPr lang="en-US" sz="2129">
                          <a:solidFill>
                            <a:srgbClr val="191918"/>
                          </a:solidFill>
                          <a:latin typeface="IBM Plex Sans"/>
                          <a:ea typeface="IBM Plex Sans"/>
                          <a:cs typeface="IBM Plex Sans"/>
                          <a:sym typeface="IBM Plex Sans"/>
                        </a:rPr>
                        <a:t>(Wald chi²(6) = 35.02***)</a:t>
                      </a:r>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Institutional quality consistently negative; strong country effects; </a:t>
                      </a:r>
                      <a:endParaRPr lang="en-US" sz="1100"/>
                    </a:p>
                    <a:p>
                      <a:pPr algn="l">
                        <a:lnSpc>
                          <a:spcPts val="2981"/>
                        </a:lnSpc>
                      </a:pPr>
                      <a:r>
                        <a:rPr lang="en-US" sz="2129">
                          <a:solidFill>
                            <a:srgbClr val="191918"/>
                          </a:solidFill>
                          <a:latin typeface="IBM Plex Sans"/>
                          <a:ea typeface="IBM Plex Sans"/>
                          <a:cs typeface="IBM Plex Sans"/>
                          <a:sym typeface="IBM Plex Sans"/>
                        </a:rPr>
                        <a:t>slopes differ across countries, so pooled models may mislead.</a:t>
                      </a:r>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0" y="-161925"/>
          <a:ext cx="18473716" cy="10448925"/>
        </p:xfrm>
        <a:graphic>
          <a:graphicData uri="http://schemas.openxmlformats.org/drawingml/2006/table">
            <a:tbl>
              <a:tblPr/>
              <a:tblGrid>
                <a:gridCol w="5145399">
                  <a:extLst>
                    <a:ext uri="{9D8B030D-6E8A-4147-A177-3AD203B41FA5}">
                      <a16:colId xmlns:a16="http://schemas.microsoft.com/office/drawing/2014/main" val="20000"/>
                    </a:ext>
                  </a:extLst>
                </a:gridCol>
                <a:gridCol w="3948459">
                  <a:extLst>
                    <a:ext uri="{9D8B030D-6E8A-4147-A177-3AD203B41FA5}">
                      <a16:colId xmlns:a16="http://schemas.microsoft.com/office/drawing/2014/main" val="20001"/>
                    </a:ext>
                  </a:extLst>
                </a:gridCol>
                <a:gridCol w="4689929">
                  <a:extLst>
                    <a:ext uri="{9D8B030D-6E8A-4147-A177-3AD203B41FA5}">
                      <a16:colId xmlns:a16="http://schemas.microsoft.com/office/drawing/2014/main" val="20002"/>
                    </a:ext>
                  </a:extLst>
                </a:gridCol>
                <a:gridCol w="4689929">
                  <a:extLst>
                    <a:ext uri="{9D8B030D-6E8A-4147-A177-3AD203B41FA5}">
                      <a16:colId xmlns:a16="http://schemas.microsoft.com/office/drawing/2014/main" val="20003"/>
                    </a:ext>
                  </a:extLst>
                </a:gridCol>
              </a:tblGrid>
              <a:tr h="1010571">
                <a:tc>
                  <a:txBody>
                    <a:bodyPr/>
                    <a:lstStyle/>
                    <a:p>
                      <a:pPr algn="ctr">
                        <a:lnSpc>
                          <a:spcPts val="4200"/>
                        </a:lnSpc>
                        <a:defRPr/>
                      </a:pPr>
                      <a:r>
                        <a:rPr lang="en-US" sz="3000" b="1">
                          <a:solidFill>
                            <a:srgbClr val="000000"/>
                          </a:solidFill>
                          <a:latin typeface="IBM Plex Sans Bold"/>
                          <a:ea typeface="IBM Plex Sans Bold"/>
                          <a:cs typeface="IBM Plex Sans Bold"/>
                          <a:sym typeface="IBM Plex Sans Bold"/>
                        </a:rPr>
                        <a:t>Table</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0CC0DF"/>
                    </a:solidFill>
                  </a:tcPr>
                </a:tc>
                <a:tc>
                  <a:txBody>
                    <a:bodyPr/>
                    <a:lstStyle/>
                    <a:p>
                      <a:pPr algn="ctr">
                        <a:lnSpc>
                          <a:spcPts val="4200"/>
                        </a:lnSpc>
                        <a:defRPr/>
                      </a:pPr>
                      <a:r>
                        <a:rPr lang="en-US" sz="3000" b="1">
                          <a:solidFill>
                            <a:srgbClr val="000000"/>
                          </a:solidFill>
                          <a:latin typeface="IBM Plex Sans Bold"/>
                          <a:ea typeface="IBM Plex Sans Bold"/>
                          <a:cs typeface="IBM Plex Sans Bold"/>
                          <a:sym typeface="IBM Plex Sans Bold"/>
                        </a:rPr>
                        <a:t>Methodology</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0CC0DF"/>
                    </a:solidFill>
                  </a:tcPr>
                </a:tc>
                <a:tc>
                  <a:txBody>
                    <a:bodyPr/>
                    <a:lstStyle/>
                    <a:p>
                      <a:pPr algn="ctr">
                        <a:lnSpc>
                          <a:spcPts val="4200"/>
                        </a:lnSpc>
                        <a:defRPr/>
                      </a:pPr>
                      <a:r>
                        <a:rPr lang="en-US" sz="3000" b="1">
                          <a:solidFill>
                            <a:srgbClr val="000000"/>
                          </a:solidFill>
                          <a:latin typeface="IBM Plex Sans Bold"/>
                          <a:ea typeface="IBM Plex Sans Bold"/>
                          <a:cs typeface="IBM Plex Sans Bold"/>
                          <a:sym typeface="IBM Plex Sans Bold"/>
                        </a:rPr>
                        <a:t>Key Observations</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0CC0DF"/>
                    </a:solidFill>
                  </a:tcPr>
                </a:tc>
                <a:tc>
                  <a:txBody>
                    <a:bodyPr/>
                    <a:lstStyle/>
                    <a:p>
                      <a:pPr algn="ctr">
                        <a:lnSpc>
                          <a:spcPts val="4200"/>
                        </a:lnSpc>
                        <a:defRPr/>
                      </a:pPr>
                      <a:r>
                        <a:rPr lang="en-US" sz="3000" b="1">
                          <a:solidFill>
                            <a:srgbClr val="000000"/>
                          </a:solidFill>
                          <a:latin typeface="IBM Plex Sans Bold"/>
                          <a:ea typeface="IBM Plex Sans Bold"/>
                          <a:cs typeface="IBM Plex Sans Bold"/>
                          <a:sym typeface="IBM Plex Sans Bold"/>
                        </a:rPr>
                        <a:t>Interpretation</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0CC0DF"/>
                    </a:solidFill>
                  </a:tcPr>
                </a:tc>
                <a:extLst>
                  <a:ext uri="{0D108BD9-81ED-4DB2-BD59-A6C34878D82A}">
                    <a16:rowId xmlns:a16="http://schemas.microsoft.com/office/drawing/2014/main" val="10000"/>
                  </a:ext>
                </a:extLst>
              </a:tr>
              <a:tr h="1942871">
                <a:tc>
                  <a:txBody>
                    <a:bodyPr/>
                    <a:lstStyle/>
                    <a:p>
                      <a:pPr algn="l">
                        <a:lnSpc>
                          <a:spcPts val="2981"/>
                        </a:lnSpc>
                        <a:defRPr/>
                      </a:pPr>
                      <a:r>
                        <a:rPr lang="en-US" sz="2129" b="1">
                          <a:solidFill>
                            <a:srgbClr val="191918"/>
                          </a:solidFill>
                          <a:latin typeface="IBM Plex Sans Bold"/>
                          <a:ea typeface="IBM Plex Sans Bold"/>
                          <a:cs typeface="IBM Plex Sans Bold"/>
                          <a:sym typeface="IBM Plex Sans Bold"/>
                        </a:rPr>
                        <a:t>8. Slope Homogeneity (MG Estimator)</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Mean Group estimator (xtmg) across countries</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INST: -129.36</a:t>
                      </a:r>
                      <a:endParaRPr lang="en-US" sz="1100"/>
                    </a:p>
                    <a:p>
                      <a:pPr algn="l">
                        <a:lnSpc>
                          <a:spcPts val="2981"/>
                        </a:lnSpc>
                      </a:pPr>
                      <a:r>
                        <a:rPr lang="en-US" sz="2129">
                          <a:solidFill>
                            <a:srgbClr val="191918"/>
                          </a:solidFill>
                          <a:latin typeface="IBM Plex Sans"/>
                          <a:ea typeface="IBM Plex Sans"/>
                          <a:cs typeface="IBM Plex Sans"/>
                          <a:sym typeface="IBM Plex Sans"/>
                        </a:rPr>
                        <a:t>FD: -336.61</a:t>
                      </a:r>
                    </a:p>
                    <a:p>
                      <a:pPr algn="l">
                        <a:lnSpc>
                          <a:spcPts val="2981"/>
                        </a:lnSpc>
                      </a:pPr>
                      <a:r>
                        <a:rPr lang="en-US" sz="2129">
                          <a:solidFill>
                            <a:srgbClr val="191918"/>
                          </a:solidFill>
                          <a:latin typeface="IBM Plex Sans"/>
                          <a:ea typeface="IBM Plex Sans"/>
                          <a:cs typeface="IBM Plex Sans"/>
                          <a:sym typeface="IBM Plex Sans"/>
                        </a:rPr>
                        <a:t>Interaction term insignificant</a:t>
                      </a:r>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Institutional frameworks hinder renewable transitions; no moderating effect of INST on FD.</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extLst>
                  <a:ext uri="{0D108BD9-81ED-4DB2-BD59-A6C34878D82A}">
                    <a16:rowId xmlns:a16="http://schemas.microsoft.com/office/drawing/2014/main" val="10001"/>
                  </a:ext>
                </a:extLst>
              </a:tr>
              <a:tr h="2692314">
                <a:tc>
                  <a:txBody>
                    <a:bodyPr/>
                    <a:lstStyle/>
                    <a:p>
                      <a:pPr algn="l">
                        <a:lnSpc>
                          <a:spcPts val="2981"/>
                        </a:lnSpc>
                        <a:defRPr/>
                      </a:pPr>
                      <a:r>
                        <a:rPr lang="en-US" sz="2129" b="1">
                          <a:solidFill>
                            <a:srgbClr val="191918"/>
                          </a:solidFill>
                          <a:latin typeface="IBM Plex Sans Bold"/>
                          <a:ea typeface="IBM Plex Sans Bold"/>
                          <a:cs typeface="IBM Plex Sans Bold"/>
                          <a:sym typeface="IBM Plex Sans Bold"/>
                        </a:rPr>
                        <a:t>9. Panel Unit Root (Intercept Only)</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Pesaran’s CIPS test, intercept only, 1 lag</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All variables I(1) except fdi (stationary at level)</a:t>
                      </a:r>
                      <a:endParaRPr lang="en-US" sz="1100"/>
                    </a:p>
                    <a:p>
                      <a:pPr algn="l">
                        <a:lnSpc>
                          <a:spcPts val="2981"/>
                        </a:lnSpc>
                      </a:pPr>
                      <a:r>
                        <a:rPr lang="en-US" sz="2129">
                          <a:solidFill>
                            <a:srgbClr val="191918"/>
                          </a:solidFill>
                          <a:latin typeface="IBM Plex Sans"/>
                          <a:ea typeface="IBM Plex Sans"/>
                          <a:cs typeface="IBM Plex Sans"/>
                          <a:sym typeface="IBM Plex Sans"/>
                        </a:rPr>
                        <a:t>First differences: all stationary (p = 0.000)</a:t>
                      </a:r>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Most variables are non-stationary in levels but stationary after differencing; cointegration tests justified.</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extLst>
                  <a:ext uri="{0D108BD9-81ED-4DB2-BD59-A6C34878D82A}">
                    <a16:rowId xmlns:a16="http://schemas.microsoft.com/office/drawing/2014/main" val="10002"/>
                  </a:ext>
                </a:extLst>
              </a:tr>
              <a:tr h="1944873">
                <a:tc>
                  <a:txBody>
                    <a:bodyPr/>
                    <a:lstStyle/>
                    <a:p>
                      <a:pPr algn="ctr">
                        <a:lnSpc>
                          <a:spcPts val="2981"/>
                        </a:lnSpc>
                        <a:defRPr/>
                      </a:pPr>
                      <a:r>
                        <a:rPr lang="en-US" sz="2129" b="1">
                          <a:solidFill>
                            <a:srgbClr val="191918"/>
                          </a:solidFill>
                          <a:latin typeface="IBM Plex Sans Bold"/>
                          <a:ea typeface="IBM Plex Sans Bold"/>
                          <a:cs typeface="IBM Plex Sans Bold"/>
                          <a:sym typeface="IBM Plex Sans Bold"/>
                        </a:rPr>
                        <a:t>10. Panel Unit Root (Intercept + Trend)</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Pesaran’s CIPS test, intercept and trend, 1 lag</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All variables I(1); first differences stationary</a:t>
                      </a:r>
                      <a:endParaRPr lang="en-US" sz="1100"/>
                    </a:p>
                    <a:p>
                      <a:pPr algn="l">
                        <a:lnSpc>
                          <a:spcPts val="2981"/>
                        </a:lnSpc>
                      </a:pPr>
                      <a:r>
                        <a:rPr lang="en-US" sz="2129">
                          <a:solidFill>
                            <a:srgbClr val="191918"/>
                          </a:solidFill>
                          <a:latin typeface="IBM Plex Sans"/>
                          <a:ea typeface="IBM Plex Sans"/>
                          <a:cs typeface="IBM Plex Sans"/>
                          <a:sym typeface="IBM Plex Sans"/>
                        </a:rPr>
                        <a:t>lrgdppc stationary after differencing (p = 0.004)</a:t>
                      </a:r>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Adding trend does not alter stationarity conclusions; supports use of ECM or first-difference models.</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extLst>
                  <a:ext uri="{0D108BD9-81ED-4DB2-BD59-A6C34878D82A}">
                    <a16:rowId xmlns:a16="http://schemas.microsoft.com/office/drawing/2014/main" val="10003"/>
                  </a:ext>
                </a:extLst>
              </a:tr>
              <a:tr h="2858296">
                <a:tc>
                  <a:txBody>
                    <a:bodyPr/>
                    <a:lstStyle/>
                    <a:p>
                      <a:pPr algn="ctr">
                        <a:lnSpc>
                          <a:spcPts val="2659"/>
                        </a:lnSpc>
                        <a:defRPr/>
                      </a:pPr>
                      <a:r>
                        <a:rPr lang="en-US" sz="1899" b="1">
                          <a:solidFill>
                            <a:srgbClr val="000000"/>
                          </a:solidFill>
                          <a:latin typeface="Arimo Bold"/>
                          <a:ea typeface="Arimo Bold"/>
                          <a:cs typeface="Arimo Bold"/>
                          <a:sym typeface="Arimo Bold"/>
                        </a:rPr>
                        <a:t>11. Westerlund ECM Cointegration</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Westerlund ECM test (group and panel statistics), lags(0), constant trend</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All p-values = 1.000</a:t>
                      </a:r>
                      <a:endParaRPr lang="en-US" sz="1100"/>
                    </a:p>
                    <a:p>
                      <a:pPr algn="l">
                        <a:lnSpc>
                          <a:spcPts val="2981"/>
                        </a:lnSpc>
                      </a:pPr>
                      <a:r>
                        <a:rPr lang="en-US" sz="2129">
                          <a:solidFill>
                            <a:srgbClr val="191918"/>
                          </a:solidFill>
                          <a:latin typeface="IBM Plex Sans"/>
                          <a:ea typeface="IBM Plex Sans"/>
                          <a:cs typeface="IBM Plex Sans"/>
                          <a:sym typeface="IBM Plex Sans"/>
                        </a:rPr>
                        <a:t>Positive Z-values</a:t>
                      </a:r>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No evidence of cointegration among variables; contradicts original study. Possible causes: scaling, CD, model misspecification.</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92858" y="-182785"/>
          <a:ext cx="18473716" cy="10652569"/>
        </p:xfrm>
        <a:graphic>
          <a:graphicData uri="http://schemas.openxmlformats.org/drawingml/2006/table">
            <a:tbl>
              <a:tblPr/>
              <a:tblGrid>
                <a:gridCol w="5145399">
                  <a:extLst>
                    <a:ext uri="{9D8B030D-6E8A-4147-A177-3AD203B41FA5}">
                      <a16:colId xmlns:a16="http://schemas.microsoft.com/office/drawing/2014/main" val="20000"/>
                    </a:ext>
                  </a:extLst>
                </a:gridCol>
                <a:gridCol w="3948459">
                  <a:extLst>
                    <a:ext uri="{9D8B030D-6E8A-4147-A177-3AD203B41FA5}">
                      <a16:colId xmlns:a16="http://schemas.microsoft.com/office/drawing/2014/main" val="20001"/>
                    </a:ext>
                  </a:extLst>
                </a:gridCol>
                <a:gridCol w="4689929">
                  <a:extLst>
                    <a:ext uri="{9D8B030D-6E8A-4147-A177-3AD203B41FA5}">
                      <a16:colId xmlns:a16="http://schemas.microsoft.com/office/drawing/2014/main" val="20002"/>
                    </a:ext>
                  </a:extLst>
                </a:gridCol>
                <a:gridCol w="4689929">
                  <a:extLst>
                    <a:ext uri="{9D8B030D-6E8A-4147-A177-3AD203B41FA5}">
                      <a16:colId xmlns:a16="http://schemas.microsoft.com/office/drawing/2014/main" val="20003"/>
                    </a:ext>
                  </a:extLst>
                </a:gridCol>
              </a:tblGrid>
              <a:tr h="1010554">
                <a:tc>
                  <a:txBody>
                    <a:bodyPr/>
                    <a:lstStyle/>
                    <a:p>
                      <a:pPr algn="ctr">
                        <a:lnSpc>
                          <a:spcPts val="4200"/>
                        </a:lnSpc>
                        <a:defRPr/>
                      </a:pPr>
                      <a:r>
                        <a:rPr lang="en-US" sz="3000" b="1">
                          <a:solidFill>
                            <a:srgbClr val="000000"/>
                          </a:solidFill>
                          <a:latin typeface="IBM Plex Sans Bold"/>
                          <a:ea typeface="IBM Plex Sans Bold"/>
                          <a:cs typeface="IBM Plex Sans Bold"/>
                          <a:sym typeface="IBM Plex Sans Bold"/>
                        </a:rPr>
                        <a:t>Table</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0CC0DF"/>
                    </a:solidFill>
                  </a:tcPr>
                </a:tc>
                <a:tc>
                  <a:txBody>
                    <a:bodyPr/>
                    <a:lstStyle/>
                    <a:p>
                      <a:pPr algn="ctr">
                        <a:lnSpc>
                          <a:spcPts val="4200"/>
                        </a:lnSpc>
                        <a:defRPr/>
                      </a:pPr>
                      <a:r>
                        <a:rPr lang="en-US" sz="3000" b="1">
                          <a:solidFill>
                            <a:srgbClr val="000000"/>
                          </a:solidFill>
                          <a:latin typeface="IBM Plex Sans Bold"/>
                          <a:ea typeface="IBM Plex Sans Bold"/>
                          <a:cs typeface="IBM Plex Sans Bold"/>
                          <a:sym typeface="IBM Plex Sans Bold"/>
                        </a:rPr>
                        <a:t>Methodology</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0CC0DF"/>
                    </a:solidFill>
                  </a:tcPr>
                </a:tc>
                <a:tc>
                  <a:txBody>
                    <a:bodyPr/>
                    <a:lstStyle/>
                    <a:p>
                      <a:pPr algn="ctr">
                        <a:lnSpc>
                          <a:spcPts val="4200"/>
                        </a:lnSpc>
                        <a:defRPr/>
                      </a:pPr>
                      <a:r>
                        <a:rPr lang="en-US" sz="3000" b="1">
                          <a:solidFill>
                            <a:srgbClr val="000000"/>
                          </a:solidFill>
                          <a:latin typeface="IBM Plex Sans Bold"/>
                          <a:ea typeface="IBM Plex Sans Bold"/>
                          <a:cs typeface="IBM Plex Sans Bold"/>
                          <a:sym typeface="IBM Plex Sans Bold"/>
                        </a:rPr>
                        <a:t>Key Observations</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0CC0DF"/>
                    </a:solidFill>
                  </a:tcPr>
                </a:tc>
                <a:tc>
                  <a:txBody>
                    <a:bodyPr/>
                    <a:lstStyle/>
                    <a:p>
                      <a:pPr algn="ctr">
                        <a:lnSpc>
                          <a:spcPts val="4200"/>
                        </a:lnSpc>
                        <a:defRPr/>
                      </a:pPr>
                      <a:r>
                        <a:rPr lang="en-US" sz="3000" b="1">
                          <a:solidFill>
                            <a:srgbClr val="000000"/>
                          </a:solidFill>
                          <a:latin typeface="IBM Plex Sans Bold"/>
                          <a:ea typeface="IBM Plex Sans Bold"/>
                          <a:cs typeface="IBM Plex Sans Bold"/>
                          <a:sym typeface="IBM Plex Sans Bold"/>
                        </a:rPr>
                        <a:t>Interpretation</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0CC0DF"/>
                    </a:solidFill>
                  </a:tcPr>
                </a:tc>
                <a:extLst>
                  <a:ext uri="{0D108BD9-81ED-4DB2-BD59-A6C34878D82A}">
                    <a16:rowId xmlns:a16="http://schemas.microsoft.com/office/drawing/2014/main" val="10000"/>
                  </a:ext>
                </a:extLst>
              </a:tr>
              <a:tr h="1944839">
                <a:tc>
                  <a:txBody>
                    <a:bodyPr/>
                    <a:lstStyle/>
                    <a:p>
                      <a:pPr algn="l">
                        <a:lnSpc>
                          <a:spcPts val="2981"/>
                        </a:lnSpc>
                        <a:defRPr/>
                      </a:pPr>
                      <a:r>
                        <a:rPr lang="en-US" sz="2129" b="1">
                          <a:solidFill>
                            <a:srgbClr val="191918"/>
                          </a:solidFill>
                          <a:latin typeface="IBM Plex Sans Bold"/>
                          <a:ea typeface="IBM Plex Sans Bold"/>
                          <a:cs typeface="IBM Plex Sans Bold"/>
                          <a:sym typeface="IBM Plex Sans Bold"/>
                        </a:rPr>
                        <a:t>12. Kao Cointegration Test</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Kao residual-based test, assumes homogeneous cointegrating vector</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 All p-values &gt; 0.05 </a:t>
                      </a:r>
                      <a:endParaRPr lang="en-US" sz="1100"/>
                    </a:p>
                    <a:p>
                      <a:pPr algn="l">
                        <a:lnSpc>
                          <a:spcPts val="2981"/>
                        </a:lnSpc>
                      </a:pPr>
                      <a:r>
                        <a:rPr lang="en-US" sz="2129">
                          <a:solidFill>
                            <a:srgbClr val="191918"/>
                          </a:solidFill>
                          <a:latin typeface="IBM Plex Sans"/>
                          <a:ea typeface="IBM Plex Sans"/>
                          <a:cs typeface="IBM Plex Sans"/>
                          <a:sym typeface="IBM Plex Sans"/>
                        </a:rPr>
                        <a:t>(fail to reject H₀)</a:t>
                      </a:r>
                    </a:p>
                    <a:p>
                      <a:pPr algn="l">
                        <a:lnSpc>
                          <a:spcPts val="2981"/>
                        </a:lnSpc>
                      </a:pPr>
                      <a:r>
                        <a:rPr lang="en-US" sz="2129">
                          <a:solidFill>
                            <a:srgbClr val="191918"/>
                          </a:solidFill>
                          <a:latin typeface="IBM Plex Sans"/>
                          <a:ea typeface="IBM Plex Sans"/>
                          <a:cs typeface="IBM Plex Sans"/>
                          <a:sym typeface="IBM Plex Sans"/>
                        </a:rPr>
                        <a:t>Weakest p = 0.1046</a:t>
                      </a:r>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No long-run equilibrium relationship, conflicts with original study. Likely due to scaling, CD, or heterogeneity.</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extLst>
                  <a:ext uri="{0D108BD9-81ED-4DB2-BD59-A6C34878D82A}">
                    <a16:rowId xmlns:a16="http://schemas.microsoft.com/office/drawing/2014/main" val="10001"/>
                  </a:ext>
                </a:extLst>
              </a:tr>
              <a:tr h="2690265">
                <a:tc>
                  <a:txBody>
                    <a:bodyPr/>
                    <a:lstStyle/>
                    <a:p>
                      <a:pPr algn="l">
                        <a:lnSpc>
                          <a:spcPts val="2981"/>
                        </a:lnSpc>
                        <a:defRPr/>
                      </a:pPr>
                      <a:r>
                        <a:rPr lang="en-US" sz="2129" b="1">
                          <a:solidFill>
                            <a:srgbClr val="191918"/>
                          </a:solidFill>
                          <a:latin typeface="IBM Plex Sans Bold"/>
                          <a:ea typeface="IBM Plex Sans Bold"/>
                          <a:cs typeface="IBM Plex Sans Bold"/>
                          <a:sym typeface="IBM Plex Sans Bold"/>
                        </a:rPr>
                        <a:t>13. System GMM</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Dynamic panel model controlling for endogeneity, lagged dependent variable</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Lagged renew: ~0.93</a:t>
                      </a:r>
                      <a:endParaRPr lang="en-US" sz="1100"/>
                    </a:p>
                    <a:p>
                      <a:pPr algn="l">
                        <a:lnSpc>
                          <a:spcPts val="2981"/>
                        </a:lnSpc>
                      </a:pPr>
                      <a:r>
                        <a:rPr lang="en-US" sz="2129">
                          <a:solidFill>
                            <a:srgbClr val="191918"/>
                          </a:solidFill>
                          <a:latin typeface="IBM Plex Sans"/>
                          <a:ea typeface="IBM Plex Sans"/>
                          <a:cs typeface="IBM Plex Sans"/>
                          <a:sym typeface="IBM Plex Sans"/>
                        </a:rPr>
                        <a:t>FD/INST not significant Instrument proliferation (375–434)</a:t>
                      </a:r>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Renewable energy is highly persistent; FD/INST effects unstable and insignificant; reliability undermined by instrument overload.</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extLst>
                  <a:ext uri="{0D108BD9-81ED-4DB2-BD59-A6C34878D82A}">
                    <a16:rowId xmlns:a16="http://schemas.microsoft.com/office/drawing/2014/main" val="10002"/>
                  </a:ext>
                </a:extLst>
              </a:tr>
              <a:tr h="2316646">
                <a:tc>
                  <a:txBody>
                    <a:bodyPr/>
                    <a:lstStyle/>
                    <a:p>
                      <a:pPr algn="ctr">
                        <a:lnSpc>
                          <a:spcPts val="2981"/>
                        </a:lnSpc>
                        <a:defRPr/>
                      </a:pPr>
                      <a:r>
                        <a:rPr lang="en-US" sz="2129" b="1">
                          <a:solidFill>
                            <a:srgbClr val="191918"/>
                          </a:solidFill>
                          <a:latin typeface="IBM Plex Sans Bold"/>
                          <a:ea typeface="IBM Plex Sans Bold"/>
                          <a:cs typeface="IBM Plex Sans Bold"/>
                          <a:sym typeface="IBM Plex Sans Bold"/>
                        </a:rPr>
                        <a:t>14. Driscoll-Kraay FE Regression</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Fixed-effects regression with Driscoll-Kraay SEs (robust to CD)</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FD: -17.35 (p = 0.311)</a:t>
                      </a:r>
                      <a:endParaRPr lang="en-US" sz="1100"/>
                    </a:p>
                    <a:p>
                      <a:pPr algn="l">
                        <a:lnSpc>
                          <a:spcPts val="2981"/>
                        </a:lnSpc>
                      </a:pPr>
                      <a:r>
                        <a:rPr lang="en-US" sz="2129">
                          <a:solidFill>
                            <a:srgbClr val="191918"/>
                          </a:solidFill>
                          <a:latin typeface="IBM Plex Sans"/>
                          <a:ea typeface="IBM Plex Sans"/>
                          <a:cs typeface="IBM Plex Sans"/>
                          <a:sym typeface="IBM Plex Sans"/>
                        </a:rPr>
                        <a:t>INST: -18.00 (p = 0.061)</a:t>
                      </a:r>
                    </a:p>
                    <a:p>
                      <a:pPr algn="l">
                        <a:lnSpc>
                          <a:spcPts val="2981"/>
                        </a:lnSpc>
                      </a:pPr>
                      <a:r>
                        <a:rPr lang="en-US" sz="2129">
                          <a:solidFill>
                            <a:srgbClr val="191918"/>
                          </a:solidFill>
                          <a:latin typeface="IBM Plex Sans"/>
                          <a:ea typeface="IBM Plex Sans"/>
                          <a:cs typeface="IBM Plex Sans"/>
                          <a:sym typeface="IBM Plex Sans"/>
                        </a:rPr>
                        <a:t>fd_inst: 2.97 (p = 0.933)</a:t>
                      </a:r>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Negative effect of FD contradicts original</a:t>
                      </a:r>
                      <a:endParaRPr lang="en-US" sz="1100"/>
                    </a:p>
                    <a:p>
                      <a:pPr algn="l">
                        <a:lnSpc>
                          <a:spcPts val="2981"/>
                        </a:lnSpc>
                      </a:pPr>
                      <a:r>
                        <a:rPr lang="en-US" sz="2129">
                          <a:solidFill>
                            <a:srgbClr val="191918"/>
                          </a:solidFill>
                          <a:latin typeface="IBM Plex Sans"/>
                          <a:ea typeface="IBM Plex Sans"/>
                          <a:cs typeface="IBM Plex Sans"/>
                          <a:sym typeface="IBM Plex Sans"/>
                        </a:rPr>
                        <a:t>INST nearly significant</a:t>
                      </a:r>
                    </a:p>
                    <a:p>
                      <a:pPr algn="l">
                        <a:lnSpc>
                          <a:spcPts val="2981"/>
                        </a:lnSpc>
                      </a:pPr>
                      <a:r>
                        <a:rPr lang="en-US" sz="2129">
                          <a:solidFill>
                            <a:srgbClr val="191918"/>
                          </a:solidFill>
                          <a:latin typeface="IBM Plex Sans"/>
                          <a:ea typeface="IBM Plex Sans"/>
                          <a:cs typeface="IBM Plex Sans"/>
                          <a:sym typeface="IBM Plex Sans"/>
                        </a:rPr>
                        <a:t>interaction term not significant</a:t>
                      </a:r>
                    </a:p>
                    <a:p>
                      <a:pPr algn="l">
                        <a:lnSpc>
                          <a:spcPts val="2981"/>
                        </a:lnSpc>
                      </a:pPr>
                      <a:r>
                        <a:rPr lang="en-US" sz="2129">
                          <a:solidFill>
                            <a:srgbClr val="191918"/>
                          </a:solidFill>
                          <a:latin typeface="IBM Plex Sans"/>
                          <a:ea typeface="IBM Plex Sans"/>
                          <a:cs typeface="IBM Plex Sans"/>
                          <a:sym typeface="IBM Plex Sans"/>
                        </a:rPr>
                        <a:t> model robust to CD.</a:t>
                      </a:r>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extLst>
                  <a:ext uri="{0D108BD9-81ED-4DB2-BD59-A6C34878D82A}">
                    <a16:rowId xmlns:a16="http://schemas.microsoft.com/office/drawing/2014/main" val="10003"/>
                  </a:ext>
                </a:extLst>
              </a:tr>
              <a:tr h="2690265">
                <a:tc>
                  <a:txBody>
                    <a:bodyPr/>
                    <a:lstStyle/>
                    <a:p>
                      <a:pPr algn="l">
                        <a:lnSpc>
                          <a:spcPts val="2981"/>
                        </a:lnSpc>
                        <a:defRPr/>
                      </a:pPr>
                      <a:r>
                        <a:rPr lang="en-US" sz="2129" b="1">
                          <a:solidFill>
                            <a:srgbClr val="000000"/>
                          </a:solidFill>
                          <a:latin typeface="IBM Plex Sans Bold"/>
                          <a:ea typeface="IBM Plex Sans Bold"/>
                          <a:cs typeface="IBM Plex Sans Bold"/>
                          <a:sym typeface="IBM Plex Sans Bold"/>
                        </a:rPr>
                        <a:t>15. PMG/AMG/CCEMG</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Panel time-series estimators: PMG (long-run), AMG, CCEMG</a:t>
                      </a:r>
                      <a:endParaRPr lang="en-US" sz="1100"/>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PMG ECM: -0.1535</a:t>
                      </a:r>
                      <a:endParaRPr lang="en-US" sz="1100"/>
                    </a:p>
                    <a:p>
                      <a:pPr algn="l">
                        <a:lnSpc>
                          <a:spcPts val="2981"/>
                        </a:lnSpc>
                      </a:pPr>
                      <a:r>
                        <a:rPr lang="en-US" sz="2129">
                          <a:solidFill>
                            <a:srgbClr val="191918"/>
                          </a:solidFill>
                          <a:latin typeface="IBM Plex Sans"/>
                          <a:ea typeface="IBM Plex Sans"/>
                          <a:cs typeface="IBM Plex Sans"/>
                          <a:sym typeface="IBM Plex Sans"/>
                        </a:rPr>
                        <a:t>INST: -139.65</a:t>
                      </a:r>
                    </a:p>
                    <a:p>
                      <a:pPr algn="l">
                        <a:lnSpc>
                          <a:spcPts val="2981"/>
                        </a:lnSpc>
                      </a:pPr>
                      <a:r>
                        <a:rPr lang="en-US" sz="2129">
                          <a:solidFill>
                            <a:srgbClr val="191918"/>
                          </a:solidFill>
                          <a:latin typeface="IBM Plex Sans"/>
                          <a:ea typeface="IBM Plex Sans"/>
                          <a:cs typeface="IBM Plex Sans"/>
                          <a:sym typeface="IBM Plex Sans"/>
                        </a:rPr>
                        <a:t>FD: -132.20 (p = 0.067)</a:t>
                      </a:r>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tc>
                  <a:txBody>
                    <a:bodyPr/>
                    <a:lstStyle/>
                    <a:p>
                      <a:pPr algn="l">
                        <a:lnSpc>
                          <a:spcPts val="2981"/>
                        </a:lnSpc>
                        <a:defRPr/>
                      </a:pPr>
                      <a:r>
                        <a:rPr lang="en-US" sz="2129">
                          <a:solidFill>
                            <a:srgbClr val="191918"/>
                          </a:solidFill>
                          <a:latin typeface="IBM Plex Sans"/>
                          <a:ea typeface="IBM Plex Sans"/>
                          <a:cs typeface="IBM Plex Sans"/>
                          <a:sym typeface="IBM Plex Sans"/>
                        </a:rPr>
                        <a:t>Significant error correction (13.5%/year)</a:t>
                      </a:r>
                      <a:endParaRPr lang="en-US" sz="1100"/>
                    </a:p>
                    <a:p>
                      <a:pPr algn="l">
                        <a:lnSpc>
                          <a:spcPts val="2981"/>
                        </a:lnSpc>
                      </a:pPr>
                      <a:r>
                        <a:rPr lang="en-US" sz="2129">
                          <a:solidFill>
                            <a:srgbClr val="191918"/>
                          </a:solidFill>
                          <a:latin typeface="IBM Plex Sans"/>
                          <a:ea typeface="IBM Plex Sans"/>
                          <a:cs typeface="IBM Plex Sans"/>
                          <a:sym typeface="IBM Plex Sans"/>
                        </a:rPr>
                        <a:t> INST consistently hinders renewables; FD effect negative or marginal; cross-sectional dependence addressed.</a:t>
                      </a:r>
                    </a:p>
                  </a:txBody>
                  <a:tcPr marL="190500" marR="190500" marT="190500" marB="190500" anchor="ctr">
                    <a:lnL w="9525" cap="flat" cmpd="sng" algn="ctr">
                      <a:solidFill>
                        <a:srgbClr val="191918"/>
                      </a:solidFill>
                      <a:prstDash val="solid"/>
                      <a:round/>
                      <a:headEnd type="none" w="med" len="med"/>
                      <a:tailEnd type="none" w="med" len="med"/>
                    </a:lnL>
                    <a:lnR w="9525" cap="flat" cmpd="sng" algn="ctr">
                      <a:solidFill>
                        <a:srgbClr val="191918"/>
                      </a:solidFill>
                      <a:prstDash val="solid"/>
                      <a:round/>
                      <a:headEnd type="none" w="med" len="med"/>
                      <a:tailEnd type="none" w="med" len="med"/>
                    </a:lnR>
                    <a:lnT w="9525" cap="flat" cmpd="sng" algn="ctr">
                      <a:solidFill>
                        <a:srgbClr val="191918"/>
                      </a:solidFill>
                      <a:prstDash val="solid"/>
                      <a:round/>
                      <a:headEnd type="none" w="med" len="med"/>
                      <a:tailEnd type="none" w="med" len="med"/>
                    </a:lnT>
                    <a:lnB w="9525" cap="flat" cmpd="sng" algn="ctr">
                      <a:solidFill>
                        <a:srgbClr val="191918"/>
                      </a:solidFill>
                      <a:prstDash val="solid"/>
                      <a:round/>
                      <a:headEnd type="none" w="med" len="med"/>
                      <a:tailEnd type="none" w="med" len="med"/>
                    </a:lnB>
                    <a:solidFill>
                      <a:srgbClr val="FFBD5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64281" y="567259"/>
            <a:ext cx="14020551" cy="9578044"/>
          </a:xfrm>
          <a:custGeom>
            <a:avLst/>
            <a:gdLst/>
            <a:ahLst/>
            <a:cxnLst/>
            <a:rect l="l" t="t" r="r" b="b"/>
            <a:pathLst>
              <a:path w="14020551" h="9578044">
                <a:moveTo>
                  <a:pt x="0" y="0"/>
                </a:moveTo>
                <a:lnTo>
                  <a:pt x="14020551" y="0"/>
                </a:lnTo>
                <a:lnTo>
                  <a:pt x="14020551" y="9578045"/>
                </a:lnTo>
                <a:lnTo>
                  <a:pt x="0" y="9578045"/>
                </a:lnTo>
                <a:lnTo>
                  <a:pt x="0" y="0"/>
                </a:lnTo>
                <a:close/>
              </a:path>
            </a:pathLst>
          </a:custGeom>
          <a:blipFill>
            <a:blip r:embed="rId2"/>
            <a:stretch>
              <a:fillRect/>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933450"/>
            <a:ext cx="9755863" cy="1837042"/>
          </a:xfrm>
          <a:prstGeom prst="rect">
            <a:avLst/>
          </a:prstGeom>
        </p:spPr>
        <p:txBody>
          <a:bodyPr lIns="0" tIns="0" rIns="0" bIns="0" rtlCol="0" anchor="t">
            <a:spAutoFit/>
          </a:bodyPr>
          <a:lstStyle/>
          <a:p>
            <a:pPr algn="l">
              <a:lnSpc>
                <a:spcPts val="7280"/>
              </a:lnSpc>
            </a:pPr>
            <a:r>
              <a:rPr lang="en-US" sz="5200" b="1">
                <a:solidFill>
                  <a:srgbClr val="000000"/>
                </a:solidFill>
                <a:latin typeface="Canva Sans Bold"/>
                <a:ea typeface="Canva Sans Bold"/>
                <a:cs typeface="Canva Sans Bold"/>
                <a:sym typeface="Canva Sans Bold"/>
              </a:rPr>
              <a:t>Major Findings</a:t>
            </a:r>
          </a:p>
          <a:p>
            <a:pPr algn="ctr">
              <a:lnSpc>
                <a:spcPts val="7560"/>
              </a:lnSpc>
            </a:pPr>
            <a:endParaRPr lang="en-US" sz="5200" b="1">
              <a:solidFill>
                <a:srgbClr val="000000"/>
              </a:solidFill>
              <a:latin typeface="Canva Sans Bold"/>
              <a:ea typeface="Canva Sans Bold"/>
              <a:cs typeface="Canva Sans Bold"/>
              <a:sym typeface="Canva Sans Bold"/>
            </a:endParaRPr>
          </a:p>
        </p:txBody>
      </p:sp>
      <p:sp>
        <p:nvSpPr>
          <p:cNvPr id="3" name="TextBox 3"/>
          <p:cNvSpPr txBox="1"/>
          <p:nvPr/>
        </p:nvSpPr>
        <p:spPr>
          <a:xfrm>
            <a:off x="1047750" y="2310042"/>
            <a:ext cx="16230600" cy="6155690"/>
          </a:xfrm>
          <a:prstGeom prst="rect">
            <a:avLst/>
          </a:prstGeom>
        </p:spPr>
        <p:txBody>
          <a:bodyPr lIns="0" tIns="0" rIns="0" bIns="0" rtlCol="0" anchor="t">
            <a:spAutoFit/>
          </a:bodyPr>
          <a:lstStyle/>
          <a:p>
            <a:pPr algn="just">
              <a:lnSpc>
                <a:spcPts val="4060"/>
              </a:lnSpc>
            </a:pPr>
            <a:r>
              <a:rPr lang="en-US" sz="2900">
                <a:solidFill>
                  <a:srgbClr val="000000"/>
                </a:solidFill>
                <a:latin typeface="Canva Sans"/>
                <a:ea typeface="Canva Sans"/>
                <a:cs typeface="Canva Sans"/>
                <a:sym typeface="Canva Sans"/>
              </a:rPr>
              <a:t>Threshold Effect</a:t>
            </a:r>
          </a:p>
          <a:p>
            <a:pPr algn="just">
              <a:lnSpc>
                <a:spcPts val="4060"/>
              </a:lnSpc>
            </a:pPr>
            <a:r>
              <a:rPr lang="en-US" sz="2900">
                <a:solidFill>
                  <a:srgbClr val="000000"/>
                </a:solidFill>
                <a:latin typeface="Canva Sans"/>
                <a:ea typeface="Canva Sans"/>
                <a:cs typeface="Canva Sans"/>
                <a:sym typeface="Canva Sans"/>
              </a:rPr>
              <a:t>The threshold value of institutional quality is estimated to be 0.5900, statistically significant at the 1% level.</a:t>
            </a:r>
          </a:p>
          <a:p>
            <a:pPr algn="just">
              <a:lnSpc>
                <a:spcPts val="4060"/>
              </a:lnSpc>
            </a:pPr>
            <a:r>
              <a:rPr lang="en-US" sz="2900">
                <a:solidFill>
                  <a:srgbClr val="000000"/>
                </a:solidFill>
                <a:latin typeface="Canva Sans"/>
                <a:ea typeface="Canva Sans"/>
                <a:cs typeface="Canva Sans"/>
                <a:sym typeface="Canva Sans"/>
              </a:rPr>
              <a:t>Institutional quality must exceed this threshold to strongly stimulate financial development for renewable energy transition.</a:t>
            </a:r>
          </a:p>
          <a:p>
            <a:pPr algn="just">
              <a:lnSpc>
                <a:spcPts val="4060"/>
              </a:lnSpc>
            </a:pPr>
            <a:endParaRPr lang="en-US" sz="2900">
              <a:solidFill>
                <a:srgbClr val="000000"/>
              </a:solidFill>
              <a:latin typeface="Canva Sans"/>
              <a:ea typeface="Canva Sans"/>
              <a:cs typeface="Canva Sans"/>
              <a:sym typeface="Canva Sans"/>
            </a:endParaRPr>
          </a:p>
          <a:p>
            <a:pPr algn="just">
              <a:lnSpc>
                <a:spcPts val="4060"/>
              </a:lnSpc>
            </a:pPr>
            <a:endParaRPr lang="en-US" sz="2900">
              <a:solidFill>
                <a:srgbClr val="000000"/>
              </a:solidFill>
              <a:latin typeface="Canva Sans"/>
              <a:ea typeface="Canva Sans"/>
              <a:cs typeface="Canva Sans"/>
              <a:sym typeface="Canva Sans"/>
            </a:endParaRPr>
          </a:p>
          <a:p>
            <a:pPr algn="just">
              <a:lnSpc>
                <a:spcPts val="4060"/>
              </a:lnSpc>
            </a:pPr>
            <a:r>
              <a:rPr lang="en-US" sz="2900">
                <a:solidFill>
                  <a:srgbClr val="000000"/>
                </a:solidFill>
                <a:latin typeface="Canva Sans"/>
                <a:ea typeface="Canva Sans"/>
                <a:cs typeface="Canva Sans"/>
                <a:sym typeface="Canva Sans"/>
              </a:rPr>
              <a:t>Linearity Test</a:t>
            </a:r>
          </a:p>
          <a:p>
            <a:pPr algn="just">
              <a:lnSpc>
                <a:spcPts val="4060"/>
              </a:lnSpc>
            </a:pPr>
            <a:r>
              <a:rPr lang="en-US" sz="2900">
                <a:solidFill>
                  <a:srgbClr val="000000"/>
                </a:solidFill>
                <a:latin typeface="Canva Sans"/>
                <a:ea typeface="Canva Sans"/>
                <a:cs typeface="Canva Sans"/>
                <a:sym typeface="Canva Sans"/>
              </a:rPr>
              <a:t>p-value = 0.1320, failing to reject the null hypothesis of linearity.</a:t>
            </a:r>
          </a:p>
          <a:p>
            <a:pPr algn="just">
              <a:lnSpc>
                <a:spcPts val="4060"/>
              </a:lnSpc>
            </a:pPr>
            <a:endParaRPr lang="en-US" sz="2900">
              <a:solidFill>
                <a:srgbClr val="000000"/>
              </a:solidFill>
              <a:latin typeface="Canva Sans"/>
              <a:ea typeface="Canva Sans"/>
              <a:cs typeface="Canva Sans"/>
              <a:sym typeface="Canva Sans"/>
            </a:endParaRPr>
          </a:p>
          <a:p>
            <a:pPr algn="just">
              <a:lnSpc>
                <a:spcPts val="4060"/>
              </a:lnSpc>
            </a:pPr>
            <a:endParaRPr lang="en-US" sz="2900">
              <a:solidFill>
                <a:srgbClr val="000000"/>
              </a:solidFill>
              <a:latin typeface="Canva Sans"/>
              <a:ea typeface="Canva Sans"/>
              <a:cs typeface="Canva Sans"/>
              <a:sym typeface="Canva Sans"/>
            </a:endParaRPr>
          </a:p>
          <a:p>
            <a:pPr algn="just">
              <a:lnSpc>
                <a:spcPts val="4060"/>
              </a:lnSpc>
            </a:pPr>
            <a:endParaRPr lang="en-US" sz="2900">
              <a:solidFill>
                <a:srgbClr val="000000"/>
              </a:solidFill>
              <a:latin typeface="Canva Sans"/>
              <a:ea typeface="Canva Sans"/>
              <a:cs typeface="Canva Sans"/>
              <a:sym typeface="Canva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933450"/>
            <a:ext cx="9755863" cy="1837042"/>
          </a:xfrm>
          <a:prstGeom prst="rect">
            <a:avLst/>
          </a:prstGeom>
        </p:spPr>
        <p:txBody>
          <a:bodyPr lIns="0" tIns="0" rIns="0" bIns="0" rtlCol="0" anchor="t">
            <a:spAutoFit/>
          </a:bodyPr>
          <a:lstStyle/>
          <a:p>
            <a:pPr algn="l">
              <a:lnSpc>
                <a:spcPts val="7280"/>
              </a:lnSpc>
            </a:pPr>
            <a:r>
              <a:rPr lang="en-US" sz="5200" b="1">
                <a:solidFill>
                  <a:srgbClr val="000000"/>
                </a:solidFill>
                <a:latin typeface="Canva Sans Bold"/>
                <a:ea typeface="Canva Sans Bold"/>
                <a:cs typeface="Canva Sans Bold"/>
                <a:sym typeface="Canva Sans Bold"/>
              </a:rPr>
              <a:t>Major Findings</a:t>
            </a:r>
          </a:p>
          <a:p>
            <a:pPr algn="ctr">
              <a:lnSpc>
                <a:spcPts val="7560"/>
              </a:lnSpc>
            </a:pPr>
            <a:endParaRPr lang="en-US" sz="5200" b="1">
              <a:solidFill>
                <a:srgbClr val="000000"/>
              </a:solidFill>
              <a:latin typeface="Canva Sans Bold"/>
              <a:ea typeface="Canva Sans Bold"/>
              <a:cs typeface="Canva Sans Bold"/>
              <a:sym typeface="Canva Sans Bold"/>
            </a:endParaRPr>
          </a:p>
        </p:txBody>
      </p:sp>
      <p:sp>
        <p:nvSpPr>
          <p:cNvPr id="3" name="TextBox 3"/>
          <p:cNvSpPr txBox="1"/>
          <p:nvPr/>
        </p:nvSpPr>
        <p:spPr>
          <a:xfrm>
            <a:off x="1028700" y="1842446"/>
            <a:ext cx="16230600" cy="7184390"/>
          </a:xfrm>
          <a:prstGeom prst="rect">
            <a:avLst/>
          </a:prstGeom>
        </p:spPr>
        <p:txBody>
          <a:bodyPr lIns="0" tIns="0" rIns="0" bIns="0" rtlCol="0" anchor="t">
            <a:spAutoFit/>
          </a:bodyPr>
          <a:lstStyle/>
          <a:p>
            <a:pPr algn="just">
              <a:lnSpc>
                <a:spcPts val="4060"/>
              </a:lnSpc>
            </a:pPr>
            <a:endParaRPr/>
          </a:p>
          <a:p>
            <a:pPr algn="just">
              <a:lnSpc>
                <a:spcPts val="4060"/>
              </a:lnSpc>
            </a:pPr>
            <a:r>
              <a:rPr lang="en-US" sz="2900">
                <a:solidFill>
                  <a:srgbClr val="000000"/>
                </a:solidFill>
                <a:latin typeface="Canva Sans"/>
                <a:ea typeface="Canva Sans"/>
                <a:cs typeface="Canva Sans"/>
                <a:sym typeface="Canva Sans"/>
              </a:rPr>
              <a:t>Impact of Financial Development (FD)</a:t>
            </a:r>
          </a:p>
          <a:p>
            <a:pPr algn="just">
              <a:lnSpc>
                <a:spcPts val="4060"/>
              </a:lnSpc>
            </a:pPr>
            <a:r>
              <a:rPr lang="en-US" sz="2900">
                <a:solidFill>
                  <a:srgbClr val="000000"/>
                </a:solidFill>
                <a:latin typeface="Canva Sans"/>
                <a:ea typeface="Canva Sans"/>
                <a:cs typeface="Canva Sans"/>
                <a:sym typeface="Canva Sans"/>
              </a:rPr>
              <a:t>Across both regimes (below and above the threshold), financial development has a significant negative impact on renewable energy consumption (coefficient = -1.73166).</a:t>
            </a:r>
          </a:p>
          <a:p>
            <a:pPr algn="just">
              <a:lnSpc>
                <a:spcPts val="4060"/>
              </a:lnSpc>
            </a:pPr>
            <a:r>
              <a:rPr lang="en-US" sz="2900">
                <a:solidFill>
                  <a:srgbClr val="000000"/>
                </a:solidFill>
                <a:latin typeface="Canva Sans"/>
                <a:ea typeface="Canva Sans"/>
                <a:cs typeface="Canva Sans"/>
                <a:sym typeface="Canva Sans"/>
              </a:rPr>
              <a:t>Indicates that financial development currently supports non-renewable energy sources more than renewable ones.</a:t>
            </a:r>
          </a:p>
          <a:p>
            <a:pPr algn="just">
              <a:lnSpc>
                <a:spcPts val="4060"/>
              </a:lnSpc>
            </a:pPr>
            <a:endParaRPr lang="en-US" sz="2900">
              <a:solidFill>
                <a:srgbClr val="000000"/>
              </a:solidFill>
              <a:latin typeface="Canva Sans"/>
              <a:ea typeface="Canva Sans"/>
              <a:cs typeface="Canva Sans"/>
              <a:sym typeface="Canva Sans"/>
            </a:endParaRPr>
          </a:p>
          <a:p>
            <a:pPr algn="just">
              <a:lnSpc>
                <a:spcPts val="4060"/>
              </a:lnSpc>
            </a:pPr>
            <a:r>
              <a:rPr lang="en-US" sz="2900">
                <a:solidFill>
                  <a:srgbClr val="000000"/>
                </a:solidFill>
                <a:latin typeface="Canva Sans"/>
                <a:ea typeface="Canva Sans"/>
                <a:cs typeface="Canva Sans"/>
                <a:sym typeface="Canva Sans"/>
              </a:rPr>
              <a:t>Impact of Institutional Quality (INST)</a:t>
            </a:r>
          </a:p>
          <a:p>
            <a:pPr algn="just">
              <a:lnSpc>
                <a:spcPts val="4060"/>
              </a:lnSpc>
            </a:pPr>
            <a:r>
              <a:rPr lang="en-US" sz="2900">
                <a:solidFill>
                  <a:srgbClr val="000000"/>
                </a:solidFill>
                <a:latin typeface="Canva Sans"/>
                <a:ea typeface="Canva Sans"/>
                <a:cs typeface="Canva Sans"/>
                <a:sym typeface="Canva Sans"/>
              </a:rPr>
              <a:t>Below threshold: Positive effect (coefficient = 0.1267346), though not statistically significant.</a:t>
            </a:r>
          </a:p>
          <a:p>
            <a:pPr algn="just">
              <a:lnSpc>
                <a:spcPts val="4060"/>
              </a:lnSpc>
            </a:pPr>
            <a:r>
              <a:rPr lang="en-US" sz="2900">
                <a:solidFill>
                  <a:srgbClr val="000000"/>
                </a:solidFill>
                <a:latin typeface="Canva Sans"/>
                <a:ea typeface="Canva Sans"/>
                <a:cs typeface="Canva Sans"/>
                <a:sym typeface="Canva Sans"/>
              </a:rPr>
              <a:t>Above threshold: Negative effect (coefficient = -0.0999852), also not statistically significant.</a:t>
            </a:r>
          </a:p>
          <a:p>
            <a:pPr algn="just">
              <a:lnSpc>
                <a:spcPts val="4060"/>
              </a:lnSpc>
            </a:pPr>
            <a:r>
              <a:rPr lang="en-US" sz="2900">
                <a:solidFill>
                  <a:srgbClr val="000000"/>
                </a:solidFill>
                <a:latin typeface="Canva Sans"/>
                <a:ea typeface="Canva Sans"/>
                <a:cs typeface="Canva Sans"/>
                <a:sym typeface="Canva Sans"/>
              </a:rPr>
              <a:t>Highlights complexity in the role of institutions in promoting renewable energy.</a:t>
            </a:r>
          </a:p>
          <a:p>
            <a:pPr algn="just">
              <a:lnSpc>
                <a:spcPts val="4060"/>
              </a:lnSpc>
            </a:pPr>
            <a:endParaRPr lang="en-US" sz="2900">
              <a:solidFill>
                <a:srgbClr val="000000"/>
              </a:solidFill>
              <a:latin typeface="Canva Sans"/>
              <a:ea typeface="Canva Sans"/>
              <a:cs typeface="Canva Sans"/>
              <a:sym typeface="Canva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2874486"/>
            <a:ext cx="16230600" cy="5848926"/>
          </a:xfrm>
          <a:prstGeom prst="rect">
            <a:avLst/>
          </a:prstGeom>
        </p:spPr>
        <p:txBody>
          <a:bodyPr lIns="0" tIns="0" rIns="0" bIns="0" rtlCol="0" anchor="t">
            <a:spAutoFit/>
          </a:bodyPr>
          <a:lstStyle/>
          <a:p>
            <a:pPr algn="just">
              <a:lnSpc>
                <a:spcPts val="2753"/>
              </a:lnSpc>
            </a:pPr>
            <a:endParaRPr/>
          </a:p>
          <a:p>
            <a:pPr algn="just">
              <a:lnSpc>
                <a:spcPts val="2753"/>
              </a:lnSpc>
            </a:pPr>
            <a:r>
              <a:rPr lang="en-US" sz="2673">
                <a:solidFill>
                  <a:srgbClr val="000000"/>
                </a:solidFill>
                <a:latin typeface="Canva Sans"/>
                <a:ea typeface="Canva Sans"/>
                <a:cs typeface="Canva Sans"/>
                <a:sym typeface="Canva Sans"/>
              </a:rPr>
              <a:t>Strengthen Institutions: Emphasize governance reforms (e.g., rule of law, corruption control) along with financial development.</a:t>
            </a:r>
          </a:p>
          <a:p>
            <a:pPr algn="just">
              <a:lnSpc>
                <a:spcPts val="2753"/>
              </a:lnSpc>
            </a:pPr>
            <a:endParaRPr lang="en-US" sz="2673">
              <a:solidFill>
                <a:srgbClr val="000000"/>
              </a:solidFill>
              <a:latin typeface="Canva Sans"/>
              <a:ea typeface="Canva Sans"/>
              <a:cs typeface="Canva Sans"/>
              <a:sym typeface="Canva Sans"/>
            </a:endParaRPr>
          </a:p>
          <a:p>
            <a:pPr algn="just">
              <a:lnSpc>
                <a:spcPts val="2753"/>
              </a:lnSpc>
            </a:pPr>
            <a:r>
              <a:rPr lang="en-US" sz="2673">
                <a:solidFill>
                  <a:srgbClr val="000000"/>
                </a:solidFill>
                <a:latin typeface="Canva Sans"/>
                <a:ea typeface="Canva Sans"/>
                <a:cs typeface="Canva Sans"/>
                <a:sym typeface="Canva Sans"/>
              </a:rPr>
              <a:t>Targeted Financial Instruments: Utilize context-specific mechanisms, including finance and green bonds, to finance the growth of renewable energy sources.</a:t>
            </a:r>
          </a:p>
          <a:p>
            <a:pPr algn="just">
              <a:lnSpc>
                <a:spcPts val="2753"/>
              </a:lnSpc>
            </a:pPr>
            <a:endParaRPr lang="en-US" sz="2673">
              <a:solidFill>
                <a:srgbClr val="000000"/>
              </a:solidFill>
              <a:latin typeface="Canva Sans"/>
              <a:ea typeface="Canva Sans"/>
              <a:cs typeface="Canva Sans"/>
              <a:sym typeface="Canva Sans"/>
            </a:endParaRPr>
          </a:p>
          <a:p>
            <a:pPr algn="just">
              <a:lnSpc>
                <a:spcPts val="2753"/>
              </a:lnSpc>
            </a:pPr>
            <a:r>
              <a:rPr lang="en-US" sz="2673">
                <a:solidFill>
                  <a:srgbClr val="000000"/>
                </a:solidFill>
                <a:latin typeface="Canva Sans"/>
                <a:ea typeface="Canva Sans"/>
                <a:cs typeface="Canva Sans"/>
                <a:sym typeface="Canva Sans"/>
              </a:rPr>
              <a:t>Integrated Approach: Harmonize policies among ministries and stakeholders to be implemented collectively.</a:t>
            </a:r>
          </a:p>
          <a:p>
            <a:pPr algn="just">
              <a:lnSpc>
                <a:spcPts val="2753"/>
              </a:lnSpc>
            </a:pPr>
            <a:endParaRPr lang="en-US" sz="2673">
              <a:solidFill>
                <a:srgbClr val="000000"/>
              </a:solidFill>
              <a:latin typeface="Canva Sans"/>
              <a:ea typeface="Canva Sans"/>
              <a:cs typeface="Canva Sans"/>
              <a:sym typeface="Canva Sans"/>
            </a:endParaRPr>
          </a:p>
          <a:p>
            <a:pPr algn="just">
              <a:lnSpc>
                <a:spcPts val="2753"/>
              </a:lnSpc>
            </a:pPr>
            <a:r>
              <a:rPr lang="en-US" sz="2673">
                <a:solidFill>
                  <a:srgbClr val="000000"/>
                </a:solidFill>
                <a:latin typeface="Canva Sans"/>
                <a:ea typeface="Canva Sans"/>
                <a:cs typeface="Canva Sans"/>
                <a:sym typeface="Canva Sans"/>
              </a:rPr>
              <a:t>Regional Cooperation: Support transnational power projects to pool risks and lower costs.</a:t>
            </a:r>
          </a:p>
          <a:p>
            <a:pPr algn="just">
              <a:lnSpc>
                <a:spcPts val="2753"/>
              </a:lnSpc>
            </a:pPr>
            <a:endParaRPr lang="en-US" sz="2673">
              <a:solidFill>
                <a:srgbClr val="000000"/>
              </a:solidFill>
              <a:latin typeface="Canva Sans"/>
              <a:ea typeface="Canva Sans"/>
              <a:cs typeface="Canva Sans"/>
              <a:sym typeface="Canva Sans"/>
            </a:endParaRPr>
          </a:p>
          <a:p>
            <a:pPr algn="just">
              <a:lnSpc>
                <a:spcPts val="2753"/>
              </a:lnSpc>
            </a:pPr>
            <a:r>
              <a:rPr lang="en-US" sz="2673">
                <a:solidFill>
                  <a:srgbClr val="000000"/>
                </a:solidFill>
                <a:latin typeface="Canva Sans"/>
                <a:ea typeface="Canva Sans"/>
                <a:cs typeface="Canva Sans"/>
                <a:sym typeface="Canva Sans"/>
              </a:rPr>
              <a:t>Targeted Reforms: Prioritizing basic institutional capacity prior to the implementation of sophisticated financial or energy policy.</a:t>
            </a:r>
          </a:p>
          <a:p>
            <a:pPr algn="just">
              <a:lnSpc>
                <a:spcPts val="2753"/>
              </a:lnSpc>
            </a:pPr>
            <a:endParaRPr lang="en-US" sz="2673">
              <a:solidFill>
                <a:srgbClr val="000000"/>
              </a:solidFill>
              <a:latin typeface="Canva Sans"/>
              <a:ea typeface="Canva Sans"/>
              <a:cs typeface="Canva Sans"/>
              <a:sym typeface="Canva Sans"/>
            </a:endParaRPr>
          </a:p>
          <a:p>
            <a:pPr algn="just">
              <a:lnSpc>
                <a:spcPts val="2753"/>
              </a:lnSpc>
            </a:pPr>
            <a:r>
              <a:rPr lang="en-US" sz="2673">
                <a:solidFill>
                  <a:srgbClr val="000000"/>
                </a:solidFill>
                <a:latin typeface="Canva Sans"/>
                <a:ea typeface="Canva Sans"/>
                <a:cs typeface="Canva Sans"/>
                <a:sym typeface="Canva Sans"/>
              </a:rPr>
              <a:t>Innovation and Capacity Development: Leverage digital financial products and strengthen institutional capacities to scale up green investment programs.</a:t>
            </a:r>
          </a:p>
        </p:txBody>
      </p:sp>
      <p:sp>
        <p:nvSpPr>
          <p:cNvPr id="3" name="TextBox 3"/>
          <p:cNvSpPr txBox="1"/>
          <p:nvPr/>
        </p:nvSpPr>
        <p:spPr>
          <a:xfrm>
            <a:off x="685800" y="857250"/>
            <a:ext cx="11430000" cy="1566544"/>
          </a:xfrm>
          <a:prstGeom prst="rect">
            <a:avLst/>
          </a:prstGeom>
        </p:spPr>
        <p:txBody>
          <a:bodyPr wrap="square" lIns="0" tIns="0" rIns="0" bIns="0" rtlCol="0" anchor="t">
            <a:spAutoFit/>
          </a:bodyPr>
          <a:lstStyle/>
          <a:p>
            <a:pPr algn="ctr">
              <a:lnSpc>
                <a:spcPts val="12880"/>
              </a:lnSpc>
            </a:pPr>
            <a:r>
              <a:rPr lang="en-US" sz="9200" b="1" dirty="0">
                <a:solidFill>
                  <a:srgbClr val="000000"/>
                </a:solidFill>
                <a:latin typeface="Canva Sans Bold"/>
                <a:ea typeface="Canva Sans Bold"/>
                <a:cs typeface="Canva Sans Bold"/>
                <a:sym typeface="Canva Sans Bold"/>
              </a:rPr>
              <a:t>Policy Implications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857250"/>
            <a:ext cx="6734870" cy="1566544"/>
          </a:xfrm>
          <a:prstGeom prst="rect">
            <a:avLst/>
          </a:prstGeom>
        </p:spPr>
        <p:txBody>
          <a:bodyPr lIns="0" tIns="0" rIns="0" bIns="0" rtlCol="0" anchor="t">
            <a:spAutoFit/>
          </a:bodyPr>
          <a:lstStyle/>
          <a:p>
            <a:pPr algn="ctr">
              <a:lnSpc>
                <a:spcPts val="12880"/>
              </a:lnSpc>
            </a:pPr>
            <a:r>
              <a:rPr lang="en-US" sz="9200" b="1">
                <a:solidFill>
                  <a:srgbClr val="000000"/>
                </a:solidFill>
                <a:latin typeface="Canva Sans Bold"/>
                <a:ea typeface="Canva Sans Bold"/>
                <a:cs typeface="Canva Sans Bold"/>
                <a:sym typeface="Canva Sans Bold"/>
              </a:rPr>
              <a:t>Conclusion:</a:t>
            </a:r>
          </a:p>
        </p:txBody>
      </p:sp>
      <p:sp>
        <p:nvSpPr>
          <p:cNvPr id="3" name="TextBox 3"/>
          <p:cNvSpPr txBox="1"/>
          <p:nvPr/>
        </p:nvSpPr>
        <p:spPr>
          <a:xfrm>
            <a:off x="1028700" y="2911951"/>
            <a:ext cx="16230600" cy="5581285"/>
          </a:xfrm>
          <a:prstGeom prst="rect">
            <a:avLst/>
          </a:prstGeom>
        </p:spPr>
        <p:txBody>
          <a:bodyPr lIns="0" tIns="0" rIns="0" bIns="0" rtlCol="0" anchor="t">
            <a:spAutoFit/>
          </a:bodyPr>
          <a:lstStyle/>
          <a:p>
            <a:pPr algn="just">
              <a:lnSpc>
                <a:spcPts val="3695"/>
              </a:lnSpc>
            </a:pPr>
            <a:r>
              <a:rPr lang="en-US" sz="2639">
                <a:solidFill>
                  <a:srgbClr val="000000"/>
                </a:solidFill>
                <a:latin typeface="Canva Sans"/>
                <a:ea typeface="Canva Sans"/>
                <a:cs typeface="Canva Sans"/>
                <a:sym typeface="Canva Sans"/>
              </a:rPr>
              <a:t>The research stresses the fact that robust financial systems but weak institutions hinder the shift toward renewable energy across lower-middle-income countries. </a:t>
            </a:r>
          </a:p>
          <a:p>
            <a:pPr algn="just">
              <a:lnSpc>
                <a:spcPts val="3695"/>
              </a:lnSpc>
            </a:pPr>
            <a:r>
              <a:rPr lang="en-US" sz="2639">
                <a:solidFill>
                  <a:srgbClr val="000000"/>
                </a:solidFill>
                <a:latin typeface="Canva Sans"/>
                <a:ea typeface="Canva Sans"/>
                <a:cs typeface="Canva Sans"/>
                <a:sym typeface="Canva Sans"/>
              </a:rPr>
              <a:t>The institutional reforms need to be well-coordinated in conjunction with the financial development so that the progression can be made both inclusive as well as sustainable. Evidence available through the World Economic Forum establishes the above-stated argument based on the inference that more effective circular economy policies significantly enhance the green investments directly, rather than indirectly by decreasing the capital expenses. Henceforth, policymakers will have to allocate more focus areas toward reinforcing institutions along with the financial systems. Future studies need to investigate cross-country time-series data, investigate the influence of external shocks like the COVID-19 pandemic on the shift to renewable energy, and study the emerging role played by digital finance and fintech innovations in rebalancing channels toward adopting renewable energy.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03723" y="0"/>
            <a:ext cx="15440150" cy="10287000"/>
          </a:xfrm>
          <a:custGeom>
            <a:avLst/>
            <a:gdLst/>
            <a:ahLst/>
            <a:cxnLst/>
            <a:rect l="l" t="t" r="r" b="b"/>
            <a:pathLst>
              <a:path w="15440150" h="10287000">
                <a:moveTo>
                  <a:pt x="0" y="0"/>
                </a:moveTo>
                <a:lnTo>
                  <a:pt x="15440150" y="0"/>
                </a:lnTo>
                <a:lnTo>
                  <a:pt x="15440150" y="10287000"/>
                </a:lnTo>
                <a:lnTo>
                  <a:pt x="0" y="10287000"/>
                </a:lnTo>
                <a:lnTo>
                  <a:pt x="0" y="0"/>
                </a:lnTo>
                <a:close/>
              </a:path>
            </a:pathLst>
          </a:custGeom>
          <a:blipFill>
            <a:blip r:embed="rId2"/>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2582</Words>
  <Application>Microsoft Office PowerPoint</Application>
  <PresentationFormat>Custom</PresentationFormat>
  <Paragraphs>265</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Canva Sans Bold</vt:lpstr>
      <vt:lpstr>IBM Plex Sans</vt:lpstr>
      <vt:lpstr>Canva Sans</vt:lpstr>
      <vt:lpstr>IBM Plex Sans Bold</vt:lpstr>
      <vt:lpstr>Arial</vt:lpstr>
      <vt:lpstr>Arimo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G03</dc:title>
  <cp:lastModifiedBy>Arrush Nair</cp:lastModifiedBy>
  <cp:revision>2</cp:revision>
  <dcterms:created xsi:type="dcterms:W3CDTF">2006-08-16T00:00:00Z</dcterms:created>
  <dcterms:modified xsi:type="dcterms:W3CDTF">2025-04-26T17:57:23Z</dcterms:modified>
  <dc:identifier>DAGkWchZtk8</dc:identifier>
</cp:coreProperties>
</file>